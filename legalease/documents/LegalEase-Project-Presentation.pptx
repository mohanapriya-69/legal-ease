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81E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BF94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863840" y="1005840"/>
            <a:ext cx="3840480" cy="4846320"/>
          </a:xfrm>
          <a:prstGeom prst="roundRect">
            <a:avLst>
              <a:gd name="adj" fmla="val 3000"/>
            </a:avLst>
          </a:prstGeom>
          <a:solidFill>
            <a:srgbClr val="1E2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" y="1371600"/>
            <a:ext cx="67665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BF9442"/>
                </a:solidFill>
                <a:latin typeface="Verdana"/>
              </a:rPr>
              <a:t>PROJECT REPORT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1828800"/>
            <a:ext cx="694944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6000" b="1" i="0">
                <a:solidFill>
                  <a:srgbClr val="FFFFFF"/>
                </a:solidFill>
                <a:latin typeface="Georgia"/>
              </a:rPr>
              <a:t>LegalEase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3063240"/>
            <a:ext cx="67665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0" i="0">
                <a:solidFill>
                  <a:srgbClr val="D6DBE4"/>
                </a:solidFill>
                <a:latin typeface="Georgia"/>
              </a:rPr>
              <a:t>AI-Assisted Legal Document Generation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1051560" y="4041648"/>
            <a:ext cx="1737360" cy="36576"/>
          </a:xfrm>
          <a:prstGeom prst="rect">
            <a:avLst/>
          </a:prstGeom>
          <a:solidFill>
            <a:srgbClr val="BF94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4315968"/>
            <a:ext cx="6766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96A0B2"/>
                </a:solidFill>
                <a:latin typeface="Verdana"/>
              </a:rPr>
              <a:t>How the project was built, end to end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5029200"/>
            <a:ext cx="6766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788498"/>
                </a:solidFill>
                <a:latin typeface="Verdana"/>
              </a:rPr>
              <a:t>FastAPI + React 19 + Groq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5303520"/>
            <a:ext cx="6766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788498"/>
                </a:solidFill>
                <a:latin typeface="Verdana"/>
              </a:rPr>
              <a:t>Local-first legal document drafting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5989320"/>
            <a:ext cx="6766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850" b="0" i="0">
                <a:solidFill>
                  <a:srgbClr val="687284"/>
                </a:solidFill>
                <a:latin typeface="Verdana"/>
              </a:rPr>
              <a:t>Not legal advice. LegalEase produces drafts for review, never a substitute for a qualified lawyer.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02920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BF9442"/>
                </a:solidFill>
                <a:latin typeface="Verdana"/>
              </a:rPr>
              <a:t>CONTENTS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841248"/>
            <a:ext cx="10637215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181E2D"/>
                </a:solidFill>
                <a:latin typeface="Georgia"/>
              </a:rPr>
              <a:t>What This Covers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627632"/>
            <a:ext cx="1371600" cy="32004"/>
          </a:xfrm>
          <a:prstGeom prst="rect">
            <a:avLst/>
          </a:prstGeom>
          <a:solidFill>
            <a:srgbClr val="BF94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938528"/>
            <a:ext cx="50292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BF9442"/>
                </a:solidFill>
                <a:latin typeface="Georgia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07592" y="1901952"/>
            <a:ext cx="444992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181E2D"/>
                </a:solidFill>
                <a:latin typeface="Georgia"/>
              </a:rPr>
              <a:t>The brief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07592" y="2176272"/>
            <a:ext cx="444992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828C9B"/>
                </a:solidFill>
                <a:latin typeface="Verdana"/>
              </a:rPr>
              <a:t>What was asked for, and the brief as written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2560320"/>
            <a:ext cx="4907127" cy="7315"/>
          </a:xfrm>
          <a:prstGeom prst="rect">
            <a:avLst/>
          </a:prstGeom>
          <a:solidFill>
            <a:srgbClr val="DFDC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2724912"/>
            <a:ext cx="50292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BF9442"/>
                </a:solidFill>
                <a:latin typeface="Georgia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07592" y="2688336"/>
            <a:ext cx="444992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181E2D"/>
                </a:solidFill>
                <a:latin typeface="Georgia"/>
              </a:rPr>
              <a:t>Key decisions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07592" y="2962656"/>
            <a:ext cx="444992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828C9B"/>
                </a:solidFill>
                <a:latin typeface="Verdana"/>
              </a:rPr>
              <a:t>Three deliberate departures from the spec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3346703"/>
            <a:ext cx="4907127" cy="7315"/>
          </a:xfrm>
          <a:prstGeom prst="rect">
            <a:avLst/>
          </a:prstGeom>
          <a:solidFill>
            <a:srgbClr val="DFDC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3511296"/>
            <a:ext cx="50292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BF9442"/>
                </a:solidFill>
                <a:latin typeface="Georgia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07592" y="3474720"/>
            <a:ext cx="444992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181E2D"/>
                </a:solidFill>
                <a:latin typeface="Georgia"/>
              </a:rPr>
              <a:t>Architecture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07592" y="3749039"/>
            <a:ext cx="444992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828C9B"/>
                </a:solidFill>
                <a:latin typeface="Verdana"/>
              </a:rPr>
              <a:t>How the pieces fit together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133088"/>
            <a:ext cx="4907127" cy="7315"/>
          </a:xfrm>
          <a:prstGeom prst="rect">
            <a:avLst/>
          </a:prstGeom>
          <a:solidFill>
            <a:srgbClr val="DFDC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4297680"/>
            <a:ext cx="50292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BF9442"/>
                </a:solidFill>
                <a:latin typeface="Georgia"/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07592" y="4261104"/>
            <a:ext cx="444992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181E2D"/>
                </a:solidFill>
                <a:latin typeface="Georgia"/>
              </a:rPr>
              <a:t>The build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07592" y="4535424"/>
            <a:ext cx="444992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828C9B"/>
                </a:solidFill>
                <a:latin typeface="Verdana"/>
              </a:rPr>
              <a:t>Backend, then frontend, in order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77240" y="4919472"/>
            <a:ext cx="4907127" cy="7315"/>
          </a:xfrm>
          <a:prstGeom prst="rect">
            <a:avLst/>
          </a:prstGeom>
          <a:solidFill>
            <a:srgbClr val="DFDC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7240" y="5084064"/>
            <a:ext cx="50292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BF9442"/>
                </a:solidFill>
                <a:latin typeface="Georgia"/>
              </a:rPr>
              <a:t>05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07592" y="5047488"/>
            <a:ext cx="444992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181E2D"/>
                </a:solidFill>
                <a:latin typeface="Georgia"/>
              </a:rPr>
              <a:t>Switching to Groq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07592" y="5321807"/>
            <a:ext cx="444992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828C9B"/>
                </a:solidFill>
                <a:latin typeface="Verdana"/>
              </a:rPr>
              <a:t>The one change that was a real migration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5705856"/>
            <a:ext cx="4907127" cy="7315"/>
          </a:xfrm>
          <a:prstGeom prst="rect">
            <a:avLst/>
          </a:prstGeom>
          <a:solidFill>
            <a:srgbClr val="DFDC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15887" y="1938528"/>
            <a:ext cx="50292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BF9442"/>
                </a:solidFill>
                <a:latin typeface="Georgia"/>
              </a:rPr>
              <a:t>06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46239" y="1901952"/>
            <a:ext cx="444992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181E2D"/>
                </a:solidFill>
                <a:latin typeface="Georgia"/>
              </a:rPr>
              <a:t>Two real bugs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46239" y="2176272"/>
            <a:ext cx="444992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828C9B"/>
                </a:solidFill>
                <a:latin typeface="Verdana"/>
              </a:rPr>
              <a:t>Found by testing, not by reading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15887" y="2560320"/>
            <a:ext cx="4907127" cy="7315"/>
          </a:xfrm>
          <a:prstGeom prst="rect">
            <a:avLst/>
          </a:prstGeom>
          <a:solidFill>
            <a:srgbClr val="DFDC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15887" y="2724912"/>
            <a:ext cx="50292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BF9442"/>
                </a:solidFill>
                <a:latin typeface="Georgia"/>
              </a:rPr>
              <a:t>07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46239" y="2688336"/>
            <a:ext cx="444992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181E2D"/>
                </a:solidFill>
                <a:latin typeface="Georgia"/>
              </a:rPr>
              <a:t>Verification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46239" y="2962656"/>
            <a:ext cx="444992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828C9B"/>
                </a:solidFill>
                <a:latin typeface="Verdana"/>
              </a:rPr>
              <a:t>Evidence, not assertions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415887" y="3346703"/>
            <a:ext cx="4907127" cy="7315"/>
          </a:xfrm>
          <a:prstGeom prst="rect">
            <a:avLst/>
          </a:prstGeom>
          <a:solidFill>
            <a:srgbClr val="DFDC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15887" y="3511296"/>
            <a:ext cx="50292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BF9442"/>
                </a:solidFill>
                <a:latin typeface="Georgia"/>
              </a:rPr>
              <a:t>08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946239" y="3474720"/>
            <a:ext cx="444992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181E2D"/>
                </a:solidFill>
                <a:latin typeface="Georgia"/>
              </a:rPr>
              <a:t>Honest gaps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946239" y="3749039"/>
            <a:ext cx="444992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828C9B"/>
                </a:solidFill>
                <a:latin typeface="Verdana"/>
              </a:rPr>
              <a:t>What is not built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415887" y="4133088"/>
            <a:ext cx="4907127" cy="7315"/>
          </a:xfrm>
          <a:prstGeom prst="rect">
            <a:avLst/>
          </a:prstGeom>
          <a:solidFill>
            <a:srgbClr val="DFDC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15887" y="4297680"/>
            <a:ext cx="50292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BF9442"/>
                </a:solidFill>
                <a:latin typeface="Georgia"/>
              </a:rPr>
              <a:t>09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946239" y="4261104"/>
            <a:ext cx="444992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181E2D"/>
                </a:solidFill>
                <a:latin typeface="Georgia"/>
              </a:rPr>
              <a:t>What is next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946239" y="4535424"/>
            <a:ext cx="444992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828C9B"/>
                </a:solidFill>
                <a:latin typeface="Verdana"/>
              </a:rPr>
              <a:t>Prioritised, with effort estimates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415887" y="4919472"/>
            <a:ext cx="4907127" cy="7315"/>
          </a:xfrm>
          <a:prstGeom prst="rect">
            <a:avLst/>
          </a:prstGeom>
          <a:solidFill>
            <a:srgbClr val="DFDC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777240" y="6199632"/>
            <a:ext cx="10637215" cy="10972"/>
          </a:xfrm>
          <a:prstGeom prst="rect">
            <a:avLst/>
          </a:prstGeom>
          <a:solidFill>
            <a:srgbClr val="DFDC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77240" y="6327648"/>
            <a:ext cx="99514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 i="0">
                <a:solidFill>
                  <a:srgbClr val="828C9B"/>
                </a:solidFill>
                <a:latin typeface="Verdana"/>
              </a:rPr>
              <a:t>Not legal advice - generated documents require review by a qualified lawyer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865815" y="632764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828C9B"/>
                </a:solidFill>
                <a:latin typeface="Verdana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02920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BF9442"/>
                </a:solidFill>
                <a:latin typeface="Verdana"/>
              </a:rPr>
              <a:t>01  THE BRIEF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841248"/>
            <a:ext cx="10637215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181E2D"/>
                </a:solidFill>
                <a:latin typeface="Georgia"/>
              </a:rPr>
              <a:t>What Was Asked For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627632"/>
            <a:ext cx="1008857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1">
                <a:solidFill>
                  <a:srgbClr val="475569"/>
                </a:solidFill>
                <a:latin typeface="Georgia"/>
              </a:rPr>
              <a:t>LegalEase generates legal documents from user input. The written brief specified the stack precisely.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996186"/>
            <a:ext cx="1371600" cy="32004"/>
          </a:xfrm>
          <a:prstGeom prst="rect">
            <a:avLst/>
          </a:prstGeom>
          <a:solidFill>
            <a:srgbClr val="BF94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270506"/>
            <a:ext cx="4952847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BF9442"/>
                </a:solidFill>
                <a:latin typeface="Verdana"/>
              </a:rPr>
              <a:t>STACK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499106"/>
            <a:ext cx="4952847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 i="0">
                <a:solidFill>
                  <a:srgbClr val="181E2D"/>
                </a:solidFill>
                <a:latin typeface="Georgia"/>
              </a:rPr>
              <a:t>FastAPI backend, Streamlit frontend, Gemini 1.5 Pro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983738"/>
            <a:ext cx="4952847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BF9442"/>
                </a:solidFill>
                <a:latin typeface="Verdana"/>
              </a:rPr>
              <a:t>INPUT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212338"/>
            <a:ext cx="4952847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 i="0">
                <a:solidFill>
                  <a:srgbClr val="181E2D"/>
                </a:solidFill>
                <a:latin typeface="Georgia"/>
              </a:rPr>
              <a:t>Document type, parties, terms, effective date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696970"/>
            <a:ext cx="4952847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BF9442"/>
                </a:solidFill>
                <a:latin typeface="Verdana"/>
              </a:rPr>
              <a:t>OUTPUT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3925570"/>
            <a:ext cx="4952847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 i="0">
                <a:solidFill>
                  <a:srgbClr val="181E2D"/>
                </a:solidFill>
                <a:latin typeface="Georgia"/>
              </a:rPr>
              <a:t>Structured documents as .txt, .docx and .pdf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61607" y="2270506"/>
            <a:ext cx="4952847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BF9442"/>
                </a:solidFill>
                <a:latin typeface="Verdana"/>
              </a:rPr>
              <a:t>PRESENTATION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61607" y="2499106"/>
            <a:ext cx="4952847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 i="0">
                <a:solidFill>
                  <a:srgbClr val="181E2D"/>
                </a:solidFill>
                <a:latin typeface="Georgia"/>
              </a:rPr>
              <a:t>Logo on the front page, footer on every page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61607" y="2983738"/>
            <a:ext cx="4952847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BF9442"/>
                </a:solidFill>
                <a:latin typeface="Verdana"/>
              </a:rPr>
              <a:t>CORE UX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61607" y="3212338"/>
            <a:ext cx="4952847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 i="0">
                <a:solidFill>
                  <a:srgbClr val="181E2D"/>
                </a:solidFill>
                <a:latin typeface="Georgia"/>
              </a:rPr>
              <a:t>Generate, preview, edit, download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61607" y="3696970"/>
            <a:ext cx="4952847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BF9442"/>
                </a:solidFill>
                <a:latin typeface="Verdana"/>
              </a:rPr>
              <a:t>DEPLOYMENT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61607" y="3925570"/>
            <a:ext cx="4952847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 i="0">
                <a:solidFill>
                  <a:srgbClr val="181E2D"/>
                </a:solidFill>
                <a:latin typeface="Georgia"/>
              </a:rPr>
              <a:t>Procfile / Dockerfile, then a cloud host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77240" y="5815583"/>
            <a:ext cx="10637215" cy="329184"/>
          </a:xfrm>
          <a:prstGeom prst="roundRect">
            <a:avLst>
              <a:gd name="adj" fmla="val 8000"/>
            </a:avLst>
          </a:prstGeom>
          <a:solidFill>
            <a:srgbClr val="F0E9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1" y="5916168"/>
            <a:ext cx="10125151" cy="14630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7A5F28"/>
                </a:solidFill>
                <a:latin typeface="Georgia"/>
              </a:rPr>
              <a:t>Terms were specified as semicolon-separated bullets. We kept structured input instead - see slide 02.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77240" y="6199632"/>
            <a:ext cx="10637215" cy="10972"/>
          </a:xfrm>
          <a:prstGeom prst="rect">
            <a:avLst/>
          </a:prstGeom>
          <a:solidFill>
            <a:srgbClr val="DFDC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7240" y="6327648"/>
            <a:ext cx="99514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 i="0">
                <a:solidFill>
                  <a:srgbClr val="828C9B"/>
                </a:solidFill>
                <a:latin typeface="Verdana"/>
              </a:rPr>
              <a:t>Not legal advice - generated documents require review by a qualified lawyer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865815" y="632764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828C9B"/>
                </a:solidFill>
                <a:latin typeface="Verdana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02920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BF9442"/>
                </a:solidFill>
                <a:latin typeface="Verdana"/>
              </a:rPr>
              <a:t>02  KEY DECISIONS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841248"/>
            <a:ext cx="10637215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181E2D"/>
                </a:solidFill>
                <a:latin typeface="Georgia"/>
              </a:rPr>
              <a:t>Three Deliberate Departures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627632"/>
            <a:ext cx="1008857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1">
                <a:solidFill>
                  <a:srgbClr val="475569"/>
                </a:solidFill>
                <a:latin typeface="Georgia"/>
              </a:rPr>
              <a:t>Each of these was a choice, not an accident. Two of them were necessary; one was requested.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996186"/>
            <a:ext cx="1371600" cy="32004"/>
          </a:xfrm>
          <a:prstGeom prst="rect">
            <a:avLst/>
          </a:prstGeom>
          <a:solidFill>
            <a:srgbClr val="BF94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270506"/>
            <a:ext cx="10637215" cy="841247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FDC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270506"/>
            <a:ext cx="45720" cy="841247"/>
          </a:xfrm>
          <a:prstGeom prst="rect">
            <a:avLst/>
          </a:prstGeom>
          <a:solidFill>
            <a:srgbClr val="BF94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69848" y="2389378"/>
            <a:ext cx="1008857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181E2D"/>
                </a:solidFill>
                <a:latin typeface="Georgia"/>
              </a:rPr>
              <a:t>Streamlit  -&gt;  React 19 + Vite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9848" y="2700274"/>
            <a:ext cx="10088575" cy="33832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475569"/>
                </a:solidFill>
                <a:latin typeface="Georgia"/>
              </a:rPr>
              <a:t>A wizard, a three-pane editor and a document dashboard cannot be built in Streamlit without fighting it. A real SPA is the honest answer to the UX in the brief.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3258058"/>
            <a:ext cx="10637215" cy="841247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FDC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" y="3258058"/>
            <a:ext cx="45720" cy="841247"/>
          </a:xfrm>
          <a:prstGeom prst="rect">
            <a:avLst/>
          </a:prstGeom>
          <a:solidFill>
            <a:srgbClr val="BF94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69848" y="3376930"/>
            <a:ext cx="1008857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181E2D"/>
                </a:solidFill>
                <a:latin typeface="Georgia"/>
              </a:rPr>
              <a:t>Gemini 1.5 Pro  -&gt;  Groq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9848" y="3687826"/>
            <a:ext cx="10088575" cy="33832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475569"/>
                </a:solidFill>
                <a:latin typeface="Georgia"/>
              </a:rPr>
              <a:t>Requested mid-project, and independently the right call: 1.5 Pro is a retired model, so the brief as written would not have run.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4245610"/>
            <a:ext cx="10637215" cy="841247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FDC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77240" y="4245610"/>
            <a:ext cx="45720" cy="841247"/>
          </a:xfrm>
          <a:prstGeom prst="rect">
            <a:avLst/>
          </a:prstGeom>
          <a:solidFill>
            <a:srgbClr val="BF94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69848" y="4364482"/>
            <a:ext cx="1008857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181E2D"/>
                </a:solidFill>
                <a:latin typeface="Georgia"/>
              </a:rPr>
              <a:t>google-generativeai  -&gt;  httpx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69848" y="4675378"/>
            <a:ext cx="10088575" cy="33832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475569"/>
                </a:solidFill>
                <a:latin typeface="Georgia"/>
              </a:rPr>
              <a:t>Groq speaks an OpenAI-compatible API. Calling it over plain HTTP keeps dependencies minimal while still enforcing a strict JSON schema.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6199632"/>
            <a:ext cx="10637215" cy="10972"/>
          </a:xfrm>
          <a:prstGeom prst="rect">
            <a:avLst/>
          </a:prstGeom>
          <a:solidFill>
            <a:srgbClr val="DFDC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6327648"/>
            <a:ext cx="99514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 i="0">
                <a:solidFill>
                  <a:srgbClr val="828C9B"/>
                </a:solidFill>
                <a:latin typeface="Verdana"/>
              </a:rPr>
              <a:t>Not legal advice - generated documents require review by a qualified lawyer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865815" y="632764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828C9B"/>
                </a:solidFill>
                <a:latin typeface="Verdana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02920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BF9442"/>
                </a:solidFill>
                <a:latin typeface="Verdana"/>
              </a:rPr>
              <a:t>02  KEY DECISIONS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841248"/>
            <a:ext cx="10637215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181E2D"/>
                </a:solidFill>
                <a:latin typeface="Georgia"/>
              </a:rPr>
              <a:t>Spec vs. Delivered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627632"/>
            <a:ext cx="1371600" cy="32004"/>
          </a:xfrm>
          <a:prstGeom prst="rect">
            <a:avLst/>
          </a:prstGeom>
          <a:solidFill>
            <a:srgbClr val="BF94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77240" y="1901952"/>
            <a:ext cx="5044287" cy="32461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FDC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901952"/>
            <a:ext cx="5044287" cy="402336"/>
          </a:xfrm>
          <a:prstGeom prst="rect">
            <a:avLst/>
          </a:prstGeom>
          <a:solidFill>
            <a:srgbClr val="FAE8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14983" y="2002536"/>
            <a:ext cx="458708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B03E37"/>
                </a:solidFill>
                <a:latin typeface="Verdana"/>
              </a:rPr>
              <a:t>BRIEF SPECIFIED</a:t>
            </a:r>
          </a:p>
        </p:txBody>
      </p:sp>
      <p:sp>
        <p:nvSpPr>
          <p:cNvPr id="9" name="Oval 8"/>
          <p:cNvSpPr/>
          <p:nvPr/>
        </p:nvSpPr>
        <p:spPr>
          <a:xfrm>
            <a:off x="1033271" y="2587752"/>
            <a:ext cx="91440" cy="91440"/>
          </a:xfrm>
          <a:prstGeom prst="ellipse">
            <a:avLst/>
          </a:prstGeom>
          <a:solidFill>
            <a:srgbClr val="B03E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52728" y="2505456"/>
            <a:ext cx="4312767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181E2D"/>
                </a:solidFill>
                <a:latin typeface="Georgia"/>
              </a:rPr>
              <a:t>Streamlit UI</a:t>
            </a:r>
          </a:p>
        </p:txBody>
      </p:sp>
      <p:sp>
        <p:nvSpPr>
          <p:cNvPr id="11" name="Oval 10"/>
          <p:cNvSpPr/>
          <p:nvPr/>
        </p:nvSpPr>
        <p:spPr>
          <a:xfrm>
            <a:off x="1033271" y="2971800"/>
            <a:ext cx="91440" cy="91440"/>
          </a:xfrm>
          <a:prstGeom prst="ellipse">
            <a:avLst/>
          </a:prstGeom>
          <a:solidFill>
            <a:srgbClr val="B03E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52728" y="2889504"/>
            <a:ext cx="4312767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181E2D"/>
                </a:solidFill>
                <a:latin typeface="Georgia"/>
              </a:rPr>
              <a:t>Gemini 1.5 Pro</a:t>
            </a:r>
          </a:p>
        </p:txBody>
      </p:sp>
      <p:sp>
        <p:nvSpPr>
          <p:cNvPr id="13" name="Oval 12"/>
          <p:cNvSpPr/>
          <p:nvPr/>
        </p:nvSpPr>
        <p:spPr>
          <a:xfrm>
            <a:off x="1033271" y="3355848"/>
            <a:ext cx="91440" cy="91440"/>
          </a:xfrm>
          <a:prstGeom prst="ellipse">
            <a:avLst/>
          </a:prstGeom>
          <a:solidFill>
            <a:srgbClr val="B03E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52728" y="3273552"/>
            <a:ext cx="4312767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181E2D"/>
                </a:solidFill>
                <a:latin typeface="Georgia"/>
              </a:rPr>
              <a:t>4 input fields</a:t>
            </a:r>
          </a:p>
        </p:txBody>
      </p:sp>
      <p:sp>
        <p:nvSpPr>
          <p:cNvPr id="15" name="Oval 14"/>
          <p:cNvSpPr/>
          <p:nvPr/>
        </p:nvSpPr>
        <p:spPr>
          <a:xfrm>
            <a:off x="1033271" y="3739896"/>
            <a:ext cx="91440" cy="91440"/>
          </a:xfrm>
          <a:prstGeom prst="ellipse">
            <a:avLst/>
          </a:prstGeom>
          <a:solidFill>
            <a:srgbClr val="B03E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52728" y="3657600"/>
            <a:ext cx="4312767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181E2D"/>
                </a:solidFill>
                <a:latin typeface="Georgia"/>
              </a:rPr>
              <a:t>Editable text area</a:t>
            </a:r>
          </a:p>
        </p:txBody>
      </p:sp>
      <p:sp>
        <p:nvSpPr>
          <p:cNvPr id="17" name="Oval 16"/>
          <p:cNvSpPr/>
          <p:nvPr/>
        </p:nvSpPr>
        <p:spPr>
          <a:xfrm>
            <a:off x="1033271" y="4123944"/>
            <a:ext cx="91440" cy="91440"/>
          </a:xfrm>
          <a:prstGeom prst="ellipse">
            <a:avLst/>
          </a:prstGeom>
          <a:solidFill>
            <a:srgbClr val="B03E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252728" y="4041648"/>
            <a:ext cx="4312767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181E2D"/>
                </a:solidFill>
                <a:latin typeface="Georgia"/>
              </a:rPr>
              <a:t>Procfile / Dockerfile</a:t>
            </a:r>
          </a:p>
        </p:txBody>
      </p:sp>
      <p:sp>
        <p:nvSpPr>
          <p:cNvPr id="19" name="Oval 18"/>
          <p:cNvSpPr/>
          <p:nvPr/>
        </p:nvSpPr>
        <p:spPr>
          <a:xfrm>
            <a:off x="1033271" y="4507992"/>
            <a:ext cx="91440" cy="91440"/>
          </a:xfrm>
          <a:prstGeom prst="ellipse">
            <a:avLst/>
          </a:prstGeom>
          <a:solidFill>
            <a:srgbClr val="B03E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252728" y="4425696"/>
            <a:ext cx="4312767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181E2D"/>
                </a:solidFill>
                <a:latin typeface="Georgia"/>
              </a:rPr>
              <a:t>Sanitize text for quotes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70167" y="1901952"/>
            <a:ext cx="5044287" cy="32461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FDC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70167" y="1901952"/>
            <a:ext cx="5044287" cy="402336"/>
          </a:xfrm>
          <a:prstGeom prst="rect">
            <a:avLst/>
          </a:prstGeom>
          <a:solidFill>
            <a:srgbClr val="E4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07911" y="2002536"/>
            <a:ext cx="458708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2B7A4E"/>
                </a:solidFill>
                <a:latin typeface="Verdana"/>
              </a:rPr>
              <a:t>DELIVERED</a:t>
            </a:r>
          </a:p>
        </p:txBody>
      </p:sp>
      <p:sp>
        <p:nvSpPr>
          <p:cNvPr id="24" name="Oval 23"/>
          <p:cNvSpPr/>
          <p:nvPr/>
        </p:nvSpPr>
        <p:spPr>
          <a:xfrm>
            <a:off x="6626199" y="2587752"/>
            <a:ext cx="91440" cy="91440"/>
          </a:xfrm>
          <a:prstGeom prst="ellipse">
            <a:avLst/>
          </a:prstGeom>
          <a:solidFill>
            <a:srgbClr val="2B7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45655" y="2505456"/>
            <a:ext cx="4312767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181E2D"/>
                </a:solidFill>
                <a:latin typeface="Georgia"/>
              </a:rPr>
              <a:t>React 19 + Vite + TypeScript</a:t>
            </a:r>
          </a:p>
        </p:txBody>
      </p:sp>
      <p:sp>
        <p:nvSpPr>
          <p:cNvPr id="26" name="Oval 25"/>
          <p:cNvSpPr/>
          <p:nvPr/>
        </p:nvSpPr>
        <p:spPr>
          <a:xfrm>
            <a:off x="6626199" y="2971800"/>
            <a:ext cx="91440" cy="91440"/>
          </a:xfrm>
          <a:prstGeom prst="ellipse">
            <a:avLst/>
          </a:prstGeom>
          <a:solidFill>
            <a:srgbClr val="2B7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45655" y="2889504"/>
            <a:ext cx="4312767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181E2D"/>
                </a:solidFill>
                <a:latin typeface="Georgia"/>
              </a:rPr>
              <a:t>Groq (gpt-oss-120b)</a:t>
            </a:r>
          </a:p>
        </p:txBody>
      </p:sp>
      <p:sp>
        <p:nvSpPr>
          <p:cNvPr id="28" name="Oval 27"/>
          <p:cNvSpPr/>
          <p:nvPr/>
        </p:nvSpPr>
        <p:spPr>
          <a:xfrm>
            <a:off x="6626199" y="3355848"/>
            <a:ext cx="91440" cy="91440"/>
          </a:xfrm>
          <a:prstGeom prst="ellipse">
            <a:avLst/>
          </a:prstGeom>
          <a:solidFill>
            <a:srgbClr val="2B7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845655" y="3273552"/>
            <a:ext cx="4312767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181E2D"/>
                </a:solidFill>
                <a:latin typeface="Georgia"/>
              </a:rPr>
              <a:t>6-step wizard, rich validation</a:t>
            </a:r>
          </a:p>
        </p:txBody>
      </p:sp>
      <p:sp>
        <p:nvSpPr>
          <p:cNvPr id="30" name="Oval 29"/>
          <p:cNvSpPr/>
          <p:nvPr/>
        </p:nvSpPr>
        <p:spPr>
          <a:xfrm>
            <a:off x="6626199" y="3739896"/>
            <a:ext cx="91440" cy="91440"/>
          </a:xfrm>
          <a:prstGeom prst="ellipse">
            <a:avLst/>
          </a:prstGeom>
          <a:solidFill>
            <a:srgbClr val="2B7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845655" y="3657600"/>
            <a:ext cx="4312767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181E2D"/>
                </a:solidFill>
                <a:latin typeface="Georgia"/>
              </a:rPr>
              <a:t>Full editor + clause-level AI rewrite</a:t>
            </a:r>
          </a:p>
        </p:txBody>
      </p:sp>
      <p:sp>
        <p:nvSpPr>
          <p:cNvPr id="32" name="Oval 31"/>
          <p:cNvSpPr/>
          <p:nvPr/>
        </p:nvSpPr>
        <p:spPr>
          <a:xfrm>
            <a:off x="6626199" y="4123944"/>
            <a:ext cx="91440" cy="91440"/>
          </a:xfrm>
          <a:prstGeom prst="ellipse">
            <a:avLst/>
          </a:prstGeom>
          <a:solidFill>
            <a:srgbClr val="2B7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845655" y="4041648"/>
            <a:ext cx="4312767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181E2D"/>
                </a:solidFill>
                <a:latin typeface="Georgia"/>
              </a:rPr>
              <a:t>README + run docs</a:t>
            </a:r>
          </a:p>
        </p:txBody>
      </p:sp>
      <p:sp>
        <p:nvSpPr>
          <p:cNvPr id="34" name="Oval 33"/>
          <p:cNvSpPr/>
          <p:nvPr/>
        </p:nvSpPr>
        <p:spPr>
          <a:xfrm>
            <a:off x="6626199" y="4507992"/>
            <a:ext cx="91440" cy="91440"/>
          </a:xfrm>
          <a:prstGeom prst="ellipse">
            <a:avLst/>
          </a:prstGeom>
          <a:solidFill>
            <a:srgbClr val="2B7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845655" y="4425696"/>
            <a:ext cx="4312767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181E2D"/>
                </a:solidFill>
                <a:latin typeface="Georgia"/>
              </a:rPr>
              <a:t>Structured outputs (no cleanup needed)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77240" y="5422392"/>
            <a:ext cx="10637215" cy="658368"/>
          </a:xfrm>
          <a:prstGeom prst="roundRect">
            <a:avLst>
              <a:gd name="adj" fmla="val 5000"/>
            </a:avLst>
          </a:prstGeom>
          <a:solidFill>
            <a:srgbClr val="181E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51560" y="5550407"/>
            <a:ext cx="1008857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1">
                <a:solidFill>
                  <a:srgbClr val="E2E7EE"/>
                </a:solidFill>
                <a:latin typeface="Georgia"/>
              </a:rPr>
              <a:t>Every functional requirement is met or exceeded. Two items are outstanding - both listed on slide 08.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77240" y="6199632"/>
            <a:ext cx="10637215" cy="10972"/>
          </a:xfrm>
          <a:prstGeom prst="rect">
            <a:avLst/>
          </a:prstGeom>
          <a:solidFill>
            <a:srgbClr val="DFDC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77240" y="6327648"/>
            <a:ext cx="99514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 i="0">
                <a:solidFill>
                  <a:srgbClr val="828C9B"/>
                </a:solidFill>
                <a:latin typeface="Verdana"/>
              </a:rPr>
              <a:t>Not legal advice - generated documents require review by a qualified lawyer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865815" y="632764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828C9B"/>
                </a:solidFill>
                <a:latin typeface="Verdana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02920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BF9442"/>
                </a:solidFill>
                <a:latin typeface="Verdana"/>
              </a:rPr>
              <a:t>03 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841248"/>
            <a:ext cx="10637215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181E2D"/>
                </a:solidFill>
                <a:latin typeface="Georgia"/>
              </a:rPr>
              <a:t>How It Fits Together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627632"/>
            <a:ext cx="1008857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1">
                <a:solidFill>
                  <a:srgbClr val="475569"/>
                </a:solidFill>
                <a:latin typeface="Georgia"/>
              </a:rPr>
              <a:t>Three tiers. The frontend never talks to the model; the model never talks to the database.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996186"/>
            <a:ext cx="1371600" cy="32004"/>
          </a:xfrm>
          <a:prstGeom prst="rect">
            <a:avLst/>
          </a:prstGeom>
          <a:solidFill>
            <a:srgbClr val="BF94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270506"/>
            <a:ext cx="10637215" cy="863409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FDC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270506"/>
            <a:ext cx="45720" cy="863409"/>
          </a:xfrm>
          <a:prstGeom prst="rect">
            <a:avLst/>
          </a:prstGeom>
          <a:solidFill>
            <a:srgbClr val="207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389378"/>
            <a:ext cx="19659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207A82"/>
                </a:solidFill>
                <a:latin typeface="Verdana"/>
              </a:rPr>
              <a:t>PRESENTATION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2654554"/>
            <a:ext cx="1004285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181E2D"/>
                </a:solidFill>
                <a:latin typeface="Georgia"/>
              </a:rPr>
              <a:t>React 19 SPA  -  landing, 6-step wizard, dashboard, template library, three-pane editor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2928874"/>
            <a:ext cx="10042855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828C9B"/>
                </a:solidFill>
                <a:latin typeface="Verdana"/>
              </a:rPr>
              <a:t>Tailwind 4, Radix, React Query, Zustand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3261931"/>
            <a:ext cx="10637215" cy="863409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FDC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3261931"/>
            <a:ext cx="45720" cy="863409"/>
          </a:xfrm>
          <a:prstGeom prst="rect">
            <a:avLst/>
          </a:prstGeom>
          <a:solidFill>
            <a:srgbClr val="207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51560" y="3380803"/>
            <a:ext cx="19659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207A82"/>
                </a:solidFill>
                <a:latin typeface="Verdana"/>
              </a:rPr>
              <a:t>API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" y="3645979"/>
            <a:ext cx="1004285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181E2D"/>
                </a:solidFill>
                <a:latin typeface="Georgia"/>
              </a:rPr>
              <a:t>FastAPI  -  10 routes under /api, Pydantic validation, typed error envelope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" y="3920299"/>
            <a:ext cx="10042855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828C9B"/>
                </a:solidFill>
                <a:latin typeface="Verdana"/>
              </a:rPr>
              <a:t>Documents, branding, templates, health, exports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4253357"/>
            <a:ext cx="10637215" cy="863409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FDC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253357"/>
            <a:ext cx="45720" cy="863409"/>
          </a:xfrm>
          <a:prstGeom prst="rect">
            <a:avLst/>
          </a:prstGeom>
          <a:solidFill>
            <a:srgbClr val="207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51560" y="4372229"/>
            <a:ext cx="19659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207A82"/>
                </a:solidFill>
                <a:latin typeface="Verdana"/>
              </a:rPr>
              <a:t>INTELLIGENCE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1560" y="4637405"/>
            <a:ext cx="1004285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181E2D"/>
                </a:solidFill>
                <a:latin typeface="Georgia"/>
              </a:rPr>
              <a:t>Groq client  -  strict JSON schema, retry on truncation, errors mapped to safe codes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1560" y="4911725"/>
            <a:ext cx="10042855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828C9B"/>
                </a:solidFill>
                <a:latin typeface="Verdana"/>
              </a:rPr>
              <a:t>Or deterministic demo mode when no key is set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77240" y="5244782"/>
            <a:ext cx="10637215" cy="863409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FDC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77240" y="5244782"/>
            <a:ext cx="45720" cy="863409"/>
          </a:xfrm>
          <a:prstGeom prst="rect">
            <a:avLst/>
          </a:prstGeom>
          <a:solidFill>
            <a:srgbClr val="207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51560" y="5363654"/>
            <a:ext cx="19659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207A82"/>
                </a:solidFill>
                <a:latin typeface="Verdana"/>
              </a:rPr>
              <a:t>PERSISTENCE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1560" y="5628830"/>
            <a:ext cx="1004285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181E2D"/>
                </a:solidFill>
                <a:latin typeface="Georgia"/>
              </a:rPr>
              <a:t>SQLAlchemy 2 + SQLite  -  documents, versions, brand profiles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51560" y="5903150"/>
            <a:ext cx="10042855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828C9B"/>
                </a:solidFill>
                <a:latin typeface="Verdana"/>
              </a:rPr>
              <a:t>PostgreSQL DSN supported for anything beyond local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6199632"/>
            <a:ext cx="10637215" cy="10972"/>
          </a:xfrm>
          <a:prstGeom prst="rect">
            <a:avLst/>
          </a:prstGeom>
          <a:solidFill>
            <a:srgbClr val="DFDC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77240" y="6327648"/>
            <a:ext cx="99514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 i="0">
                <a:solidFill>
                  <a:srgbClr val="828C9B"/>
                </a:solidFill>
                <a:latin typeface="Verdana"/>
              </a:rPr>
              <a:t>Not legal advice - generated documents require review by a qualified lawyer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865815" y="632764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828C9B"/>
                </a:solidFill>
                <a:latin typeface="Verdana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02920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BF9442"/>
                </a:solidFill>
                <a:latin typeface="Verdana"/>
              </a:rPr>
              <a:t>04  THE BUILD  -  BACKEND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841248"/>
            <a:ext cx="10637215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181E2D"/>
                </a:solidFill>
                <a:latin typeface="Georgia"/>
              </a:rPr>
              <a:t>Built Bottom-Up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627632"/>
            <a:ext cx="1008857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1">
                <a:solidFill>
                  <a:srgbClr val="475569"/>
                </a:solidFill>
                <a:latin typeface="Georgia"/>
              </a:rPr>
              <a:t>Order mattered: contracts before the AI, because the AI is generated against a schema.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996186"/>
            <a:ext cx="1371600" cy="32004"/>
          </a:xfrm>
          <a:prstGeom prst="rect">
            <a:avLst/>
          </a:prstGeom>
          <a:solidFill>
            <a:srgbClr val="BF94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288794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BF9442"/>
                </a:solidFill>
                <a:latin typeface="Georgia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52728" y="2270506"/>
            <a:ext cx="18288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181E2D"/>
                </a:solidFill>
                <a:latin typeface="Georgia"/>
              </a:rPr>
              <a:t>Config and database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52728" y="2535682"/>
            <a:ext cx="385556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475569"/>
                </a:solidFill>
                <a:latin typeface="Verdana"/>
              </a:rPr>
              <a:t>Settings from .env, SQLAlchemy 2 engine, SQLite with foreign keys 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066034"/>
            <a:ext cx="5044287" cy="7315"/>
          </a:xfrm>
          <a:prstGeom prst="rect">
            <a:avLst/>
          </a:prstGeom>
          <a:solidFill>
            <a:srgbClr val="DFDC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3276346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BF9442"/>
                </a:solidFill>
                <a:latin typeface="Georgia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52728" y="3258058"/>
            <a:ext cx="18288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181E2D"/>
                </a:solidFill>
                <a:latin typeface="Georgia"/>
              </a:rPr>
              <a:t>Schemas first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52728" y="3523234"/>
            <a:ext cx="385556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475569"/>
                </a:solidFill>
                <a:latin typeface="Verdana"/>
              </a:rPr>
              <a:t>Pydantic contracts, including DocumentDraft - the one shape AI, DB, preview and all three exporters agree 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7240" y="4053586"/>
            <a:ext cx="5044287" cy="7315"/>
          </a:xfrm>
          <a:prstGeom prst="rect">
            <a:avLst/>
          </a:prstGeom>
          <a:solidFill>
            <a:srgbClr val="DFDC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4263898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BF9442"/>
                </a:solidFill>
                <a:latin typeface="Georgia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52728" y="4245610"/>
            <a:ext cx="18288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181E2D"/>
                </a:solidFill>
                <a:latin typeface="Georgia"/>
              </a:rPr>
              <a:t>Models and services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52728" y="4510786"/>
            <a:ext cx="385556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475569"/>
                </a:solidFill>
                <a:latin typeface="Verdana"/>
              </a:rPr>
              <a:t>Document, DocumentVersion, BrandProfile; versioning, duplication, statistics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77240" y="5041138"/>
            <a:ext cx="5044287" cy="7315"/>
          </a:xfrm>
          <a:prstGeom prst="rect">
            <a:avLst/>
          </a:prstGeom>
          <a:solidFill>
            <a:srgbClr val="DFDC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525145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BF9442"/>
                </a:solidFill>
                <a:latin typeface="Georgia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52728" y="5233162"/>
            <a:ext cx="18288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181E2D"/>
                </a:solidFill>
                <a:latin typeface="Georgia"/>
              </a:rPr>
              <a:t>AI layer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52728" y="5498338"/>
            <a:ext cx="385556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475569"/>
                </a:solidFill>
                <a:latin typeface="Verdana"/>
              </a:rPr>
              <a:t>Prompts, client, orchestration, plus a deterministic demo generator for offline work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77240" y="6028690"/>
            <a:ext cx="5044287" cy="7315"/>
          </a:xfrm>
          <a:prstGeom prst="rect">
            <a:avLst/>
          </a:prstGeom>
          <a:solidFill>
            <a:srgbClr val="DFDC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70167" y="2288794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BF9442"/>
                </a:solidFill>
                <a:latin typeface="Georgia"/>
              </a:rPr>
              <a:t>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45655" y="2270506"/>
            <a:ext cx="18288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181E2D"/>
                </a:solidFill>
                <a:latin typeface="Georgia"/>
              </a:rPr>
              <a:t>18 document types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45655" y="2535682"/>
            <a:ext cx="385556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475569"/>
                </a:solidFill>
                <a:latin typeface="Verdana"/>
              </a:rPr>
              <a:t>NDA, employment, lease and more, each with suggested sections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370167" y="3066034"/>
            <a:ext cx="5044287" cy="7315"/>
          </a:xfrm>
          <a:prstGeom prst="rect">
            <a:avLst/>
          </a:prstGeom>
          <a:solidFill>
            <a:srgbClr val="DFDC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70167" y="3276346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BF9442"/>
                </a:solidFill>
                <a:latin typeface="Georgia"/>
              </a:rPr>
              <a:t>06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45655" y="3258058"/>
            <a:ext cx="18288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181E2D"/>
                </a:solidFill>
                <a:latin typeface="Georgia"/>
              </a:rPr>
              <a:t>Three exporters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45655" y="3523234"/>
            <a:ext cx="385556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475569"/>
                </a:solidFill>
                <a:latin typeface="Verdana"/>
              </a:rPr>
              <a:t>PDF, DOCX and TXT sharing one layout module and one A4 geometry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370167" y="4053586"/>
            <a:ext cx="5044287" cy="7315"/>
          </a:xfrm>
          <a:prstGeom prst="rect">
            <a:avLst/>
          </a:prstGeom>
          <a:solidFill>
            <a:srgbClr val="DFDC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370167" y="4263898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BF9442"/>
                </a:solidFill>
                <a:latin typeface="Georgia"/>
              </a:rPr>
              <a:t>07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45655" y="4245610"/>
            <a:ext cx="18288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181E2D"/>
                </a:solidFill>
                <a:latin typeface="Georgia"/>
              </a:rPr>
              <a:t>Error envelope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45655" y="4510786"/>
            <a:ext cx="385556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475569"/>
                </a:solidFill>
                <a:latin typeface="Verdana"/>
              </a:rPr>
              <a:t>Every failure returns {code, message}; upstream detail never leaks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370167" y="5041138"/>
            <a:ext cx="5044287" cy="7315"/>
          </a:xfrm>
          <a:prstGeom prst="rect">
            <a:avLst/>
          </a:prstGeom>
          <a:solidFill>
            <a:srgbClr val="DFDC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77240" y="6199632"/>
            <a:ext cx="10637215" cy="10972"/>
          </a:xfrm>
          <a:prstGeom prst="rect">
            <a:avLst/>
          </a:prstGeom>
          <a:solidFill>
            <a:srgbClr val="DFDC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77240" y="6327648"/>
            <a:ext cx="99514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 i="0">
                <a:solidFill>
                  <a:srgbClr val="828C9B"/>
                </a:solidFill>
                <a:latin typeface="Verdana"/>
              </a:rPr>
              <a:t>Not legal advice - generated documents require review by a qualified lawyer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865815" y="632764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828C9B"/>
                </a:solidFill>
                <a:latin typeface="Verdana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02920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BF9442"/>
                </a:solidFill>
                <a:latin typeface="Verdana"/>
              </a:rPr>
              <a:t>04  THE BUILD  -  FRONTEND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841248"/>
            <a:ext cx="10637215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181E2D"/>
                </a:solidFill>
                <a:latin typeface="Georgia"/>
              </a:rPr>
              <a:t>Then the Interface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627632"/>
            <a:ext cx="1008857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1">
                <a:solidFill>
                  <a:srgbClr val="475569"/>
                </a:solidFill>
                <a:latin typeface="Georgia"/>
              </a:rPr>
              <a:t>Built to the same contracts the backend already enforced, so the types line up by construction.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996186"/>
            <a:ext cx="1371600" cy="32004"/>
          </a:xfrm>
          <a:prstGeom prst="rect">
            <a:avLst/>
          </a:prstGeom>
          <a:solidFill>
            <a:srgbClr val="BF94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297938"/>
            <a:ext cx="5486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BF9442"/>
                </a:solidFill>
                <a:latin typeface="Georgia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44168" y="2270506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81E2D"/>
                </a:solidFill>
                <a:latin typeface="Georgia"/>
              </a:rPr>
              <a:t>Design system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26279" y="2288794"/>
            <a:ext cx="6888175" cy="6217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475569"/>
                </a:solidFill>
                <a:latin typeface="Verdana"/>
              </a:rPr>
              <a:t>Buttons, cards, fields, dialogs, badges, skeletons, alerts, empty states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2910586"/>
            <a:ext cx="10637215" cy="7315"/>
          </a:xfrm>
          <a:prstGeom prst="rect">
            <a:avLst/>
          </a:prstGeom>
          <a:solidFill>
            <a:srgbClr val="DFDC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2827824"/>
            <a:ext cx="5486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BF9442"/>
                </a:solidFill>
                <a:latin typeface="Georgia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44168" y="2800392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81E2D"/>
                </a:solidFill>
                <a:latin typeface="Georgia"/>
              </a:rPr>
              <a:t>Typed API layer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6279" y="2818680"/>
            <a:ext cx="6888175" cy="6217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475569"/>
                </a:solidFill>
                <a:latin typeface="Verdana"/>
              </a:rPr>
              <a:t>One Axios client, normalised errors, blob-based downloads with safe filenames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7240" y="3440472"/>
            <a:ext cx="10637215" cy="7315"/>
          </a:xfrm>
          <a:prstGeom prst="rect">
            <a:avLst/>
          </a:prstGeom>
          <a:solidFill>
            <a:srgbClr val="DFDC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3357710"/>
            <a:ext cx="5486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BF9442"/>
                </a:solidFill>
                <a:latin typeface="Georgia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44168" y="3330278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81E2D"/>
                </a:solidFill>
                <a:latin typeface="Georgia"/>
              </a:rPr>
              <a:t>State and data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26279" y="3348566"/>
            <a:ext cx="6888175" cy="6217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475569"/>
                </a:solidFill>
                <a:latin typeface="Verdana"/>
              </a:rPr>
              <a:t>React Query for server state, Zustand for wizard state, sessionStorage persistence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77240" y="3970358"/>
            <a:ext cx="10637215" cy="7315"/>
          </a:xfrm>
          <a:prstGeom prst="rect">
            <a:avLst/>
          </a:prstGeom>
          <a:solidFill>
            <a:srgbClr val="DFDC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3887597"/>
            <a:ext cx="5486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BF9442"/>
                </a:solidFill>
                <a:latin typeface="Georgia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44168" y="3860164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81E2D"/>
                </a:solidFill>
                <a:latin typeface="Georgia"/>
              </a:rPr>
              <a:t>Six-step wizard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26279" y="3878452"/>
            <a:ext cx="6888175" cy="6217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475569"/>
                </a:solidFill>
                <a:latin typeface="Verdana"/>
              </a:rPr>
              <a:t>Document, parties, clauses, dates, jurisdiction and branding - validated per step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77240" y="4500245"/>
            <a:ext cx="10637215" cy="7315"/>
          </a:xfrm>
          <a:prstGeom prst="rect">
            <a:avLst/>
          </a:prstGeom>
          <a:solidFill>
            <a:srgbClr val="DFDC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" y="4417483"/>
            <a:ext cx="5486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BF9442"/>
                </a:solidFill>
                <a:latin typeface="Georgia"/>
              </a:rPr>
              <a:t>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44168" y="4390051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81E2D"/>
                </a:solidFill>
                <a:latin typeface="Georgia"/>
              </a:rPr>
              <a:t>Dashboard and templates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26279" y="4408339"/>
            <a:ext cx="6888175" cy="6217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475569"/>
                </a:solidFill>
                <a:latin typeface="Verdana"/>
              </a:rPr>
              <a:t>Search, status filters, pagination, delete confirmation, empty states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77240" y="5030131"/>
            <a:ext cx="10637215" cy="7315"/>
          </a:xfrm>
          <a:prstGeom prst="rect">
            <a:avLst/>
          </a:prstGeom>
          <a:solidFill>
            <a:srgbClr val="DFDC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77240" y="4947369"/>
            <a:ext cx="5486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BF9442"/>
                </a:solidFill>
                <a:latin typeface="Georgia"/>
              </a:rPr>
              <a:t>06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44168" y="4919937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81E2D"/>
                </a:solidFill>
                <a:latin typeface="Georgia"/>
              </a:rPr>
              <a:t>Three-pane editor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26279" y="4938225"/>
            <a:ext cx="6888175" cy="6217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475569"/>
                </a:solidFill>
                <a:latin typeface="Verdana"/>
              </a:rPr>
              <a:t>Outline, A4 preview, section editor - with debounced autosave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77240" y="5560017"/>
            <a:ext cx="10637215" cy="7315"/>
          </a:xfrm>
          <a:prstGeom prst="rect">
            <a:avLst/>
          </a:prstGeom>
          <a:solidFill>
            <a:srgbClr val="DFDC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77240" y="5477255"/>
            <a:ext cx="5486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BF9442"/>
                </a:solidFill>
                <a:latin typeface="Georgia"/>
              </a:rPr>
              <a:t>07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344168" y="5449823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81E2D"/>
                </a:solidFill>
                <a:latin typeface="Georgia"/>
              </a:rPr>
              <a:t>AI and exports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26279" y="5468111"/>
            <a:ext cx="6888175" cy="6217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475569"/>
                </a:solidFill>
                <a:latin typeface="Verdana"/>
              </a:rPr>
              <a:t>Clause-level rewrite actions, version history with restore, PDF/DOCX/TXT export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77240" y="6089903"/>
            <a:ext cx="10637215" cy="7315"/>
          </a:xfrm>
          <a:prstGeom prst="rect">
            <a:avLst/>
          </a:prstGeom>
          <a:solidFill>
            <a:srgbClr val="DFDC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77240" y="6199632"/>
            <a:ext cx="10637215" cy="10972"/>
          </a:xfrm>
          <a:prstGeom prst="rect">
            <a:avLst/>
          </a:prstGeom>
          <a:solidFill>
            <a:srgbClr val="DFDC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77240" y="6327648"/>
            <a:ext cx="99514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 i="0">
                <a:solidFill>
                  <a:srgbClr val="828C9B"/>
                </a:solidFill>
                <a:latin typeface="Verdana"/>
              </a:rPr>
              <a:t>Not legal advice - generated documents require review by a qualified lawyer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865815" y="632764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828C9B"/>
                </a:solidFill>
                <a:latin typeface="Verdana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02920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BF9442"/>
                </a:solidFill>
                <a:latin typeface="Verdana"/>
              </a:rPr>
              <a:t>05  SWITCHING TO GROQ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841248"/>
            <a:ext cx="10637215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181E2D"/>
                </a:solidFill>
                <a:latin typeface="Georgia"/>
              </a:rPr>
              <a:t>The One Real Migration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627632"/>
            <a:ext cx="1008857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1">
                <a:solidFill>
                  <a:srgbClr val="475569"/>
                </a:solidFill>
                <a:latin typeface="Georgia"/>
              </a:rPr>
              <a:t>A model swap looks like a config change. It was not.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996186"/>
            <a:ext cx="1371600" cy="32004"/>
          </a:xfrm>
          <a:prstGeom prst="rect">
            <a:avLst/>
          </a:prstGeom>
          <a:solidFill>
            <a:srgbClr val="BF94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270506"/>
            <a:ext cx="10637215" cy="512064"/>
          </a:xfrm>
          <a:prstGeom prst="roundRect">
            <a:avLst>
              <a:gd name="adj" fmla="val 6000"/>
            </a:avLst>
          </a:prstGeom>
          <a:solidFill>
            <a:srgbClr val="FAE8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2361946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B03E37"/>
                </a:solidFill>
                <a:latin typeface="Verdana"/>
              </a:rPr>
              <a:t>SYMPTOM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31720" y="2371090"/>
            <a:ext cx="8808415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7A2A25"/>
                </a:solidFill>
                <a:latin typeface="Georgia"/>
              </a:rPr>
              <a:t>Every single live generation call returned HTTP 400 and failed in under a second.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2874010"/>
            <a:ext cx="10637215" cy="51206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FDC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2965450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BF9442"/>
                </a:solidFill>
                <a:latin typeface="Verdana"/>
              </a:rPr>
              <a:t>ROOT CAUSE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31720" y="2974594"/>
            <a:ext cx="8808415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181E2D"/>
                </a:solidFill>
                <a:latin typeface="Georgia"/>
              </a:rPr>
              <a:t>Pydantic and Groq's strict mode disagree about what a JSON schema means.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3477514"/>
            <a:ext cx="45720" cy="457200"/>
          </a:xfrm>
          <a:prstGeom prst="rect">
            <a:avLst/>
          </a:prstGeom>
          <a:solidFill>
            <a:srgbClr val="BF94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14983" y="3495802"/>
            <a:ext cx="4254886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 i="0">
                <a:solidFill>
                  <a:srgbClr val="181E2D"/>
                </a:solidFill>
                <a:latin typeface="Georgia"/>
              </a:rPr>
              <a:t>Pydantic emits $defs + $ref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2614" y="3514090"/>
            <a:ext cx="5637724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475569"/>
                </a:solidFill>
                <a:latin typeface="Verdana"/>
              </a:rPr>
              <a:t>Groq rejects provider-specific reference support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7240" y="4026154"/>
            <a:ext cx="45720" cy="457200"/>
          </a:xfrm>
          <a:prstGeom prst="rect">
            <a:avLst/>
          </a:prstGeom>
          <a:solidFill>
            <a:srgbClr val="BF94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14983" y="4044441"/>
            <a:ext cx="4254886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 i="0">
                <a:solidFill>
                  <a:srgbClr val="181E2D"/>
                </a:solidFill>
                <a:latin typeface="Georgia"/>
              </a:rPr>
              <a:t>Pydantic omits additionalProperties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2614" y="4062730"/>
            <a:ext cx="5637724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475569"/>
                </a:solidFill>
                <a:latin typeface="Verdana"/>
              </a:rPr>
              <a:t>Strict mode requires every object to be closed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4574794"/>
            <a:ext cx="45720" cy="457200"/>
          </a:xfrm>
          <a:prstGeom prst="rect">
            <a:avLst/>
          </a:prstGeom>
          <a:solidFill>
            <a:srgbClr val="BF94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4983" y="4593081"/>
            <a:ext cx="4254886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 i="0">
                <a:solidFill>
                  <a:srgbClr val="181E2D"/>
                </a:solidFill>
                <a:latin typeface="Georgia"/>
              </a:rPr>
              <a:t>Pydantic lists only required keys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2614" y="4611370"/>
            <a:ext cx="5637724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475569"/>
                </a:solidFill>
                <a:latin typeface="Verdana"/>
              </a:rPr>
              <a:t>Strict mode requires every property to be listed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77240" y="5123433"/>
            <a:ext cx="10637215" cy="640080"/>
          </a:xfrm>
          <a:prstGeom prst="roundRect">
            <a:avLst>
              <a:gd name="adj" fmla="val 5000"/>
            </a:avLst>
          </a:prstGeom>
          <a:solidFill>
            <a:srgbClr val="E4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51560" y="5214873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2B7A4E"/>
                </a:solidFill>
                <a:latin typeface="Verdana"/>
              </a:rPr>
              <a:t>FIX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737360" y="5214873"/>
            <a:ext cx="9402775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215C3B"/>
                </a:solidFill>
                <a:latin typeface="Georgia"/>
              </a:rPr>
              <a:t>normalize_json_schema() inlines every reference against $defs, adds additionalProperties: false to every object, and requires every property - while preserving optionality through the nullable unions Pydantic already emits.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77240" y="5854953"/>
            <a:ext cx="10637215" cy="420624"/>
          </a:xfrm>
          <a:prstGeom prst="roundRect">
            <a:avLst>
              <a:gd name="adj" fmla="val 6000"/>
            </a:avLst>
          </a:prstGeom>
          <a:solidFill>
            <a:srgbClr val="181E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51560" y="5946393"/>
            <a:ext cx="1008857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1">
                <a:solidFill>
                  <a:srgbClr val="DCE2EA"/>
                </a:solidFill>
                <a:latin typeface="Georgia"/>
              </a:rPr>
              <a:t>LESSON:  The fix was not configuration. Assuming it was would have sent us hunting for a wrong API key.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6199632"/>
            <a:ext cx="10637215" cy="10972"/>
          </a:xfrm>
          <a:prstGeom prst="rect">
            <a:avLst/>
          </a:prstGeom>
          <a:solidFill>
            <a:srgbClr val="DFDC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77240" y="6327648"/>
            <a:ext cx="99514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 i="0">
                <a:solidFill>
                  <a:srgbClr val="828C9B"/>
                </a:solidFill>
                <a:latin typeface="Verdana"/>
              </a:rPr>
              <a:t>Not legal advice - generated documents require review by a qualified lawyer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865815" y="632764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828C9B"/>
                </a:solidFill>
                <a:latin typeface="Verdana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02920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BF9442"/>
                </a:solidFill>
                <a:latin typeface="Verdana"/>
              </a:rPr>
              <a:t>06  TWO REAL BUGS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841248"/>
            <a:ext cx="10637215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181E2D"/>
                </a:solidFill>
                <a:latin typeface="Georgia"/>
              </a:rPr>
              <a:t>Found by Testing, Not Reading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627632"/>
            <a:ext cx="1008857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1">
                <a:solidFill>
                  <a:srgbClr val="475569"/>
                </a:solidFill>
                <a:latin typeface="Georgia"/>
              </a:rPr>
              <a:t>Both were invisible to typecheck, lint and 120 passing tests. Only real calls exposed them.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996186"/>
            <a:ext cx="1371600" cy="32004"/>
          </a:xfrm>
          <a:prstGeom prst="rect">
            <a:avLst/>
          </a:prstGeom>
          <a:solidFill>
            <a:srgbClr val="BF94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270506"/>
            <a:ext cx="10637215" cy="566928"/>
          </a:xfrm>
          <a:prstGeom prst="roundRect">
            <a:avLst>
              <a:gd name="adj" fmla="val 6000"/>
            </a:avLst>
          </a:prstGeom>
          <a:solidFill>
            <a:srgbClr val="FAE8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2361946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B03E37"/>
                </a:solidFill>
                <a:latin typeface="Verdana"/>
              </a:rPr>
              <a:t>SYMPTOM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31720" y="2371090"/>
            <a:ext cx="8808415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7A2A25"/>
                </a:solidFill>
                <a:latin typeface="Georgia"/>
              </a:rPr>
              <a:t>Any request without an effective date returned HTTP 500.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2928874"/>
            <a:ext cx="10637215" cy="56692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FDC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3020314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BF9442"/>
                </a:solidFill>
                <a:latin typeface="Verdana"/>
              </a:rPr>
              <a:t>ROOT CAUSE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31720" y="3029457"/>
            <a:ext cx="8808415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181E2D"/>
                </a:solidFill>
                <a:latin typeface="Georgia"/>
              </a:rPr>
              <a:t>effective_date is optional in the request schema, but the prompt builder called .isoformat() on it unconditionally.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3587241"/>
            <a:ext cx="45720" cy="457200"/>
          </a:xfrm>
          <a:prstGeom prst="rect">
            <a:avLst/>
          </a:prstGeom>
          <a:solidFill>
            <a:srgbClr val="BF94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14983" y="3605529"/>
            <a:ext cx="4254886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 i="0">
                <a:solidFill>
                  <a:srgbClr val="181E2D"/>
                </a:solidFill>
                <a:latin typeface="Georgia"/>
              </a:rPr>
              <a:t>500 INTERNAL_ERROR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2614" y="3623817"/>
            <a:ext cx="5637724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475569"/>
                </a:solidFill>
                <a:latin typeface="Verdana"/>
              </a:rPr>
              <a:t>AttributeError: 'NoneType' object has no attribute 'isoformat'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7240" y="4135881"/>
            <a:ext cx="45720" cy="457200"/>
          </a:xfrm>
          <a:prstGeom prst="rect">
            <a:avLst/>
          </a:prstGeom>
          <a:solidFill>
            <a:srgbClr val="BF94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14983" y="4154169"/>
            <a:ext cx="4254886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 i="0">
                <a:solidFill>
                  <a:srgbClr val="181E2D"/>
                </a:solidFill>
                <a:latin typeface="Georgia"/>
              </a:rPr>
              <a:t>Pre-existing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2614" y="4172457"/>
            <a:ext cx="5637724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475569"/>
                </a:solidFill>
                <a:latin typeface="Verdana"/>
              </a:rPr>
              <a:t>Would have hit Gemini identically - not caused by the migration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4684521"/>
            <a:ext cx="45720" cy="457200"/>
          </a:xfrm>
          <a:prstGeom prst="rect">
            <a:avLst/>
          </a:prstGeom>
          <a:solidFill>
            <a:srgbClr val="BF94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4983" y="4702809"/>
            <a:ext cx="4254886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 i="0">
                <a:solidFill>
                  <a:srgbClr val="181E2D"/>
                </a:solidFill>
                <a:latin typeface="Georgia"/>
              </a:rPr>
              <a:t>Contradicts the schema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2614" y="4721097"/>
            <a:ext cx="5637724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475569"/>
                </a:solidFill>
                <a:latin typeface="Verdana"/>
              </a:rPr>
              <a:t>Optional in the contract, mandatory in the code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77240" y="5233161"/>
            <a:ext cx="10637215" cy="640080"/>
          </a:xfrm>
          <a:prstGeom prst="roundRect">
            <a:avLst>
              <a:gd name="adj" fmla="val 5000"/>
            </a:avLst>
          </a:prstGeom>
          <a:solidFill>
            <a:srgbClr val="E4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51560" y="5324601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2B7A4E"/>
                </a:solidFill>
                <a:latin typeface="Verdana"/>
              </a:rPr>
              <a:t>FIX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737360" y="5324601"/>
            <a:ext cx="9402775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215C3B"/>
                </a:solidFill>
                <a:latin typeface="Georgia"/>
              </a:rPr>
              <a:t>The prompt builder now degrades to a clear placeholder. Two regression tests were added, one asserting the prompt still builds without dates and one proving generation succeeds.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77240" y="5964681"/>
            <a:ext cx="10637215" cy="420624"/>
          </a:xfrm>
          <a:prstGeom prst="roundRect">
            <a:avLst>
              <a:gd name="adj" fmla="val 6000"/>
            </a:avLst>
          </a:prstGeom>
          <a:solidFill>
            <a:srgbClr val="181E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51560" y="6056121"/>
            <a:ext cx="1008857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1">
                <a:solidFill>
                  <a:srgbClr val="DCE2EA"/>
                </a:solidFill>
                <a:latin typeface="Georgia"/>
              </a:rPr>
              <a:t>LESSON:  A passing suite proves the tested paths work. It does not prove optional inputs are handled.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6199632"/>
            <a:ext cx="10637215" cy="10972"/>
          </a:xfrm>
          <a:prstGeom prst="rect">
            <a:avLst/>
          </a:prstGeom>
          <a:solidFill>
            <a:srgbClr val="DFDC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77240" y="6327648"/>
            <a:ext cx="99514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 i="0">
                <a:solidFill>
                  <a:srgbClr val="828C9B"/>
                </a:solidFill>
                <a:latin typeface="Verdana"/>
              </a:rPr>
              <a:t>Not legal advice - generated documents require review by a qualified lawyer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865815" y="632764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828C9B"/>
                </a:solidFill>
                <a:latin typeface="Verdana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02920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BF9442"/>
                </a:solidFill>
                <a:latin typeface="Verdana"/>
              </a:rPr>
              <a:t>07  VERIFICATION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841248"/>
            <a:ext cx="10637215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181E2D"/>
                </a:solidFill>
                <a:latin typeface="Georgia"/>
              </a:rPr>
              <a:t>Evidence, Not Assertions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627632"/>
            <a:ext cx="1008857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1">
                <a:solidFill>
                  <a:srgbClr val="475569"/>
                </a:solidFill>
                <a:latin typeface="Georgia"/>
              </a:rPr>
              <a:t>Every claim below was executed against the running application with a live model.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996186"/>
            <a:ext cx="1371600" cy="32004"/>
          </a:xfrm>
          <a:prstGeom prst="rect">
            <a:avLst/>
          </a:prstGeom>
          <a:solidFill>
            <a:srgbClr val="BF94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270506"/>
            <a:ext cx="5090007" cy="859536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FDC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270506"/>
            <a:ext cx="41148" cy="859536"/>
          </a:xfrm>
          <a:prstGeom prst="rect">
            <a:avLst/>
          </a:prstGeom>
          <a:solidFill>
            <a:srgbClr val="2B7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96695" y="2361946"/>
            <a:ext cx="19202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81E2D"/>
                </a:solidFill>
                <a:latin typeface="Georgia"/>
              </a:rPr>
              <a:t>Backend test suite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04207" y="2371090"/>
            <a:ext cx="1243584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1" i="0">
                <a:solidFill>
                  <a:srgbClr val="2B7A4E"/>
                </a:solidFill>
                <a:latin typeface="Verdana"/>
              </a:rPr>
              <a:t>131 passed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96695" y="2617978"/>
            <a:ext cx="465109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475569"/>
                </a:solidFill>
                <a:latin typeface="Verdana"/>
              </a:rPr>
              <a:t>Up from 120. Added transport error mapping, truncation retry, schema normalisation and optional-date regression tests.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3239770"/>
            <a:ext cx="5090007" cy="859536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FDC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3239770"/>
            <a:ext cx="41148" cy="859536"/>
          </a:xfrm>
          <a:prstGeom prst="rect">
            <a:avLst/>
          </a:prstGeom>
          <a:solidFill>
            <a:srgbClr val="2B7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96695" y="3331210"/>
            <a:ext cx="19202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81E2D"/>
                </a:solidFill>
                <a:latin typeface="Georgia"/>
              </a:rPr>
              <a:t>Live generation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04207" y="3340354"/>
            <a:ext cx="1243584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1" i="0">
                <a:solidFill>
                  <a:srgbClr val="2B7A4E"/>
                </a:solidFill>
                <a:latin typeface="Verdana"/>
              </a:rPr>
              <a:t>8 sections in 6s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96695" y="3587242"/>
            <a:ext cx="465109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475569"/>
                </a:solidFill>
                <a:latin typeface="Verdana"/>
              </a:rPr>
              <a:t>Real Groq call. No markup leakage; disclaimer and signature blocks present.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4209034"/>
            <a:ext cx="5090007" cy="859536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FDC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209034"/>
            <a:ext cx="41148" cy="859536"/>
          </a:xfrm>
          <a:prstGeom prst="rect">
            <a:avLst/>
          </a:prstGeom>
          <a:solidFill>
            <a:srgbClr val="2B7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96695" y="4300474"/>
            <a:ext cx="19202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81E2D"/>
                </a:solidFill>
                <a:latin typeface="Georgia"/>
              </a:rPr>
              <a:t>Live clause rewrite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04207" y="4309618"/>
            <a:ext cx="1243584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1" i="0">
                <a:solidFill>
                  <a:srgbClr val="2B7A4E"/>
                </a:solidFill>
                <a:latin typeface="Verdana"/>
              </a:rPr>
              <a:t>Version 3 created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96695" y="4556506"/>
            <a:ext cx="465109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475569"/>
                </a:solidFill>
                <a:latin typeface="Verdana"/>
              </a:rPr>
              <a:t>Section 4 rewritten by the model, with before/after versions recorded.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77240" y="5178298"/>
            <a:ext cx="5090007" cy="859536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FDC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77240" y="5178298"/>
            <a:ext cx="41148" cy="859536"/>
          </a:xfrm>
          <a:prstGeom prst="rect">
            <a:avLst/>
          </a:prstGeom>
          <a:solidFill>
            <a:srgbClr val="2B7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96695" y="5269737"/>
            <a:ext cx="19202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81E2D"/>
                </a:solidFill>
                <a:latin typeface="Georgia"/>
              </a:rPr>
              <a:t>PDF export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04207" y="5278882"/>
            <a:ext cx="1243584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1" i="0">
                <a:solidFill>
                  <a:srgbClr val="2B7A4E"/>
                </a:solidFill>
                <a:latin typeface="Verdana"/>
              </a:rPr>
              <a:t>77 text ops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96695" y="5525770"/>
            <a:ext cx="465109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475569"/>
                </a:solidFill>
                <a:latin typeface="Verdana"/>
              </a:rPr>
              <a:t>Decoded ReportLab's ASCII85+Flate streams and confirmed every section is present.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324447" y="2270506"/>
            <a:ext cx="5090007" cy="859536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FDC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324447" y="2270506"/>
            <a:ext cx="41148" cy="859536"/>
          </a:xfrm>
          <a:prstGeom prst="rect">
            <a:avLst/>
          </a:prstGeom>
          <a:solidFill>
            <a:srgbClr val="2B7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43903" y="2361946"/>
            <a:ext cx="19202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81E2D"/>
                </a:solidFill>
                <a:latin typeface="Georgia"/>
              </a:rPr>
              <a:t>DOCX export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951415" y="2371090"/>
            <a:ext cx="1243584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1" i="0">
                <a:solidFill>
                  <a:srgbClr val="2B7A4E"/>
                </a:solidFill>
                <a:latin typeface="Verdana"/>
              </a:rPr>
              <a:t>19 zip entries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43903" y="2617978"/>
            <a:ext cx="465109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475569"/>
                </a:solidFill>
                <a:latin typeface="Verdana"/>
              </a:rPr>
              <a:t>All sections present in word/document.xml.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324447" y="3239770"/>
            <a:ext cx="5090007" cy="859536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FDC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324447" y="3239770"/>
            <a:ext cx="41148" cy="859536"/>
          </a:xfrm>
          <a:prstGeom prst="rect">
            <a:avLst/>
          </a:prstGeom>
          <a:solidFill>
            <a:srgbClr val="2B7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543903" y="3331210"/>
            <a:ext cx="19202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81E2D"/>
                </a:solidFill>
                <a:latin typeface="Georgia"/>
              </a:rPr>
              <a:t>TXT export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951415" y="3340354"/>
            <a:ext cx="1243584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1" i="0">
                <a:solidFill>
                  <a:srgbClr val="2B7A4E"/>
                </a:solidFill>
                <a:latin typeface="Verdana"/>
              </a:rPr>
              <a:t>8 sections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43903" y="3587242"/>
            <a:ext cx="465109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475569"/>
                </a:solidFill>
                <a:latin typeface="Verdana"/>
              </a:rPr>
              <a:t>Confirmed, and the disclaimer included.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324447" y="4209034"/>
            <a:ext cx="5090007" cy="859536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FDC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324447" y="4209034"/>
            <a:ext cx="41148" cy="859536"/>
          </a:xfrm>
          <a:prstGeom prst="rect">
            <a:avLst/>
          </a:prstGeom>
          <a:solidFill>
            <a:srgbClr val="2B7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543903" y="4300474"/>
            <a:ext cx="19202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81E2D"/>
                </a:solidFill>
                <a:latin typeface="Georgia"/>
              </a:rPr>
              <a:t>Frontend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951415" y="4309618"/>
            <a:ext cx="1243584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1" i="0">
                <a:solidFill>
                  <a:srgbClr val="2B7A4E"/>
                </a:solidFill>
                <a:latin typeface="Verdana"/>
              </a:rPr>
              <a:t>Lint, types, build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543903" y="4556506"/>
            <a:ext cx="465109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475569"/>
                </a:solidFill>
                <a:latin typeface="Verdana"/>
              </a:rPr>
              <a:t>oxlint clean, tsc -b clean, production build succeeded.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324447" y="5178298"/>
            <a:ext cx="5090007" cy="859536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FDC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324447" y="5178298"/>
            <a:ext cx="41148" cy="859536"/>
          </a:xfrm>
          <a:prstGeom prst="rect">
            <a:avLst/>
          </a:prstGeom>
          <a:solidFill>
            <a:srgbClr val="2B7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543903" y="5269737"/>
            <a:ext cx="19202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81E2D"/>
                </a:solidFill>
                <a:latin typeface="Georgia"/>
              </a:rPr>
              <a:t>Secret hygiene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951415" y="5278882"/>
            <a:ext cx="1243584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1" i="0">
                <a:solidFill>
                  <a:srgbClr val="2B7A4E"/>
                </a:solidFill>
                <a:latin typeface="Verdana"/>
              </a:rPr>
              <a:t>No leak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543903" y="5525770"/>
            <a:ext cx="465109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475569"/>
                </a:solidFill>
                <a:latin typeface="Verdana"/>
              </a:rPr>
              <a:t>The API key exists only in a gitignored .env. Tracked files contain no key.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77240" y="6199632"/>
            <a:ext cx="10637215" cy="10972"/>
          </a:xfrm>
          <a:prstGeom prst="rect">
            <a:avLst/>
          </a:prstGeom>
          <a:solidFill>
            <a:srgbClr val="DFDC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77240" y="6327648"/>
            <a:ext cx="99514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 i="0">
                <a:solidFill>
                  <a:srgbClr val="828C9B"/>
                </a:solidFill>
                <a:latin typeface="Verdana"/>
              </a:rPr>
              <a:t>Not legal advice - generated documents require review by a qualified lawyer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865815" y="632764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828C9B"/>
                </a:solidFill>
                <a:latin typeface="Verdana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02920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BF9442"/>
                </a:solidFill>
                <a:latin typeface="Verdana"/>
              </a:rPr>
              <a:t>07  VERIFICATION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841248"/>
            <a:ext cx="10637215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181E2D"/>
                </a:solidFill>
                <a:latin typeface="Georgia"/>
              </a:rPr>
              <a:t>Two Things I Initially Got Wrong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627632"/>
            <a:ext cx="1008857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1">
                <a:solidFill>
                  <a:srgbClr val="475569"/>
                </a:solidFill>
                <a:latin typeface="Georgia"/>
              </a:rPr>
              <a:t>Reported as failures, then disproved. Recording them because the reasoning is the point.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996186"/>
            <a:ext cx="1371600" cy="32004"/>
          </a:xfrm>
          <a:prstGeom prst="rect">
            <a:avLst/>
          </a:prstGeom>
          <a:solidFill>
            <a:srgbClr val="BF94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270506"/>
            <a:ext cx="10637215" cy="93268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FDC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270506"/>
            <a:ext cx="41148" cy="932688"/>
          </a:xfrm>
          <a:prstGeom prst="rect">
            <a:avLst/>
          </a:prstGeom>
          <a:solidFill>
            <a:srgbClr val="BF94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14983" y="2380234"/>
            <a:ext cx="22860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181E2D"/>
                </a:solidFill>
                <a:latin typeface="Georgia"/>
              </a:rPr>
              <a:t>Mojibake in output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14983" y="2654554"/>
            <a:ext cx="22860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 i="0">
                <a:solidFill>
                  <a:srgbClr val="BF9442"/>
                </a:solidFill>
                <a:latin typeface="Verdana"/>
              </a:rPr>
              <a:t>RECHECKED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29000" y="2389378"/>
            <a:ext cx="1737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 i="0">
                <a:solidFill>
                  <a:srgbClr val="BF9442"/>
                </a:solidFill>
                <a:latin typeface="Georgia"/>
              </a:rPr>
              <a:t>False alarm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12079" y="2389378"/>
            <a:ext cx="6019495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475569"/>
                </a:solidFill>
                <a:latin typeface="Verdana"/>
              </a:rPr>
              <a:t>Text appeared corrupted in the console. A Python check found zero corrupted characters in stored data.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" y="3331210"/>
            <a:ext cx="10637215" cy="93268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FDC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77240" y="3331210"/>
            <a:ext cx="41148" cy="932688"/>
          </a:xfrm>
          <a:prstGeom prst="rect">
            <a:avLst/>
          </a:prstGeom>
          <a:solidFill>
            <a:srgbClr val="BF94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14983" y="3440938"/>
            <a:ext cx="22860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181E2D"/>
                </a:solidFill>
                <a:latin typeface="Georgia"/>
              </a:rPr>
              <a:t>Missing sections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14983" y="3715258"/>
            <a:ext cx="22860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 i="0">
                <a:solidFill>
                  <a:srgbClr val="BF9442"/>
                </a:solidFill>
                <a:latin typeface="Verdana"/>
              </a:rPr>
              <a:t>RECHECKED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29000" y="3450082"/>
            <a:ext cx="1737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 i="0">
                <a:solidFill>
                  <a:srgbClr val="BF9442"/>
                </a:solidFill>
                <a:latin typeface="Georgia"/>
              </a:rPr>
              <a:t>False alarm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12079" y="3450082"/>
            <a:ext cx="6019495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475569"/>
                </a:solidFill>
                <a:latin typeface="Verdana"/>
              </a:rPr>
              <a:t>A case-sensitive grep missed uppercase headings. All sections were present.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77240" y="4391914"/>
            <a:ext cx="10637215" cy="93268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FDC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77240" y="4391914"/>
            <a:ext cx="41148" cy="932688"/>
          </a:xfrm>
          <a:prstGeom prst="rect">
            <a:avLst/>
          </a:prstGeom>
          <a:solidFill>
            <a:srgbClr val="2B7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14983" y="4501642"/>
            <a:ext cx="22860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181E2D"/>
                </a:solidFill>
                <a:latin typeface="Georgia"/>
              </a:rPr>
              <a:t>Why it matters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14983" y="4775962"/>
            <a:ext cx="22860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 i="0">
                <a:solidFill>
                  <a:srgbClr val="2B7A4E"/>
                </a:solidFill>
                <a:latin typeface="Verdana"/>
              </a:rPr>
              <a:t>PASS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29000" y="4510786"/>
            <a:ext cx="1737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 i="0">
                <a:solidFill>
                  <a:srgbClr val="2B7A4E"/>
                </a:solidFill>
                <a:latin typeface="Georgia"/>
              </a:rPr>
              <a:t>Both were my probe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12079" y="4510786"/>
            <a:ext cx="6019495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475569"/>
                </a:solidFill>
                <a:latin typeface="Verdana"/>
              </a:rPr>
              <a:t>Not the product. A wrong test can condemn correct code as easily as a wrong test can pass broken code.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6199632"/>
            <a:ext cx="10637215" cy="10972"/>
          </a:xfrm>
          <a:prstGeom prst="rect">
            <a:avLst/>
          </a:prstGeom>
          <a:solidFill>
            <a:srgbClr val="DFDC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7240" y="6327648"/>
            <a:ext cx="99514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 i="0">
                <a:solidFill>
                  <a:srgbClr val="828C9B"/>
                </a:solidFill>
                <a:latin typeface="Verdana"/>
              </a:rPr>
              <a:t>Not legal advice - generated documents require review by a qualified lawyer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865815" y="632764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828C9B"/>
                </a:solidFill>
                <a:latin typeface="Verdana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02920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BF9442"/>
                </a:solidFill>
                <a:latin typeface="Verdana"/>
              </a:rPr>
              <a:t>08  HONEST GAPS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841248"/>
            <a:ext cx="10637215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181E2D"/>
                </a:solidFill>
                <a:latin typeface="Georgia"/>
              </a:rPr>
              <a:t>What Is Not Built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627632"/>
            <a:ext cx="1008857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1">
                <a:solidFill>
                  <a:srgbClr val="475569"/>
                </a:solidFill>
                <a:latin typeface="Georgia"/>
              </a:rPr>
              <a:t>Stated plainly so nothing here is a surprise later.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996186"/>
            <a:ext cx="1371600" cy="32004"/>
          </a:xfrm>
          <a:prstGeom prst="rect">
            <a:avLst/>
          </a:prstGeom>
          <a:solidFill>
            <a:srgbClr val="BF94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270506"/>
            <a:ext cx="10637215" cy="849693"/>
          </a:xfrm>
          <a:prstGeom prst="roundRect">
            <a:avLst>
              <a:gd name="adj" fmla="val 4000"/>
            </a:avLst>
          </a:prstGeom>
          <a:solidFill>
            <a:srgbClr val="FAE8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270506"/>
            <a:ext cx="45720" cy="849693"/>
          </a:xfrm>
          <a:prstGeom prst="rect">
            <a:avLst/>
          </a:prstGeom>
          <a:solidFill>
            <a:srgbClr val="B03E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380234"/>
            <a:ext cx="851580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81E2D"/>
                </a:solidFill>
                <a:latin typeface="Georgia"/>
              </a:rPr>
              <a:t>No deployment artifacts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85655" y="2407666"/>
            <a:ext cx="15544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1" i="0">
                <a:solidFill>
                  <a:srgbClr val="B03E37"/>
                </a:solidFill>
                <a:latin typeface="Verdana"/>
              </a:rPr>
              <a:t>SIGNIFICANT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2691130"/>
            <a:ext cx="10070287" cy="35591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150" b="0" i="0">
                <a:solidFill>
                  <a:srgbClr val="475569"/>
                </a:solidFill>
                <a:latin typeface="Georgia"/>
              </a:rPr>
              <a:t>No Procfile, Dockerfile or render.yaml. The brief's Milestone 5 asks for them. Note: the app has no authentication and stores data in SQLite, so it is safe locally but not ready to expose publicly. Auth and PostgreSQL would come first.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3266503"/>
            <a:ext cx="10637215" cy="849693"/>
          </a:xfrm>
          <a:prstGeom prst="roundRect">
            <a:avLst>
              <a:gd name="adj" fmla="val 4000"/>
            </a:avLst>
          </a:prstGeom>
          <a:solidFill>
            <a:srgbClr val="F0E9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3266503"/>
            <a:ext cx="45720" cy="849693"/>
          </a:xfrm>
          <a:prstGeom prst="rect">
            <a:avLst/>
          </a:prstGeom>
          <a:solidFill>
            <a:srgbClr val="BF94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51560" y="3376231"/>
            <a:ext cx="851580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81E2D"/>
                </a:solidFill>
                <a:latin typeface="Georgia"/>
              </a:rPr>
              <a:t>No sanitize_text()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585655" y="3403663"/>
            <a:ext cx="15544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1" i="0">
                <a:solidFill>
                  <a:srgbClr val="BF9442"/>
                </a:solidFill>
                <a:latin typeface="Verdana"/>
              </a:rPr>
              <a:t>MINOR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" y="3687127"/>
            <a:ext cx="10070287" cy="35591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150" b="0" i="0">
                <a:solidFill>
                  <a:srgbClr val="475569"/>
                </a:solidFill>
                <a:latin typeface="Georgia"/>
              </a:rPr>
              <a:t>The brief specifies stripping smart quotes before formatting. Not needed - Groq's strict schema guarantees valid UTF-8, which is why stored data verified clean. Trivial to add defensively at export time.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4262501"/>
            <a:ext cx="10637215" cy="849693"/>
          </a:xfrm>
          <a:prstGeom prst="roundRect">
            <a:avLst>
              <a:gd name="adj" fmla="val 4000"/>
            </a:avLst>
          </a:prstGeom>
          <a:solidFill>
            <a:srgbClr val="EE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262501"/>
            <a:ext cx="45720" cy="849693"/>
          </a:xfrm>
          <a:prstGeom prst="rect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51560" y="4372229"/>
            <a:ext cx="851580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81E2D"/>
                </a:solidFill>
                <a:latin typeface="Georgia"/>
              </a:rPr>
              <a:t>No multilingual support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585655" y="4399661"/>
            <a:ext cx="15544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1" i="0">
                <a:solidFill>
                  <a:srgbClr val="475569"/>
                </a:solidFill>
                <a:latin typeface="Verdana"/>
              </a:rPr>
              <a:t>NOT BUILT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1560" y="4683125"/>
            <a:ext cx="10070287" cy="35591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150" b="0" i="0">
                <a:solidFill>
                  <a:srgbClr val="475569"/>
                </a:solidFill>
                <a:latin typeface="Georgia"/>
              </a:rPr>
              <a:t>The brief's conclusion claims multilingual capability. There is none. Deliberately out of scope unless requested.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77240" y="5258498"/>
            <a:ext cx="10637215" cy="849693"/>
          </a:xfrm>
          <a:prstGeom prst="roundRect">
            <a:avLst>
              <a:gd name="adj" fmla="val 4000"/>
            </a:avLst>
          </a:prstGeom>
          <a:solidFill>
            <a:srgbClr val="EE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77240" y="5258498"/>
            <a:ext cx="45720" cy="849693"/>
          </a:xfrm>
          <a:prstGeom prst="rect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51560" y="5368226"/>
            <a:ext cx="851580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81E2D"/>
                </a:solidFill>
                <a:latin typeface="Georgia"/>
              </a:rPr>
              <a:t>No plain-language summary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585655" y="5395658"/>
            <a:ext cx="15544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1" i="0">
                <a:solidFill>
                  <a:srgbClr val="475569"/>
                </a:solidFill>
                <a:latin typeface="Verdana"/>
              </a:rPr>
              <a:t>NOT BUILT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51560" y="5679122"/>
            <a:ext cx="10070287" cy="35591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150" b="0" i="0">
                <a:solidFill>
                  <a:srgbClr val="475569"/>
                </a:solidFill>
                <a:latin typeface="Georgia"/>
              </a:rPr>
              <a:t>Also claimed in the conclusion. Not implemented.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6199632"/>
            <a:ext cx="10637215" cy="10972"/>
          </a:xfrm>
          <a:prstGeom prst="rect">
            <a:avLst/>
          </a:prstGeom>
          <a:solidFill>
            <a:srgbClr val="DFDC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77240" y="6327648"/>
            <a:ext cx="99514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 i="0">
                <a:solidFill>
                  <a:srgbClr val="828C9B"/>
                </a:solidFill>
                <a:latin typeface="Verdana"/>
              </a:rPr>
              <a:t>Not legal advice - generated documents require review by a qualified lawyer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865815" y="632764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828C9B"/>
                </a:solidFill>
                <a:latin typeface="Verdana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02920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BF9442"/>
                </a:solidFill>
                <a:latin typeface="Verdana"/>
              </a:rPr>
              <a:t>09  WHAT IS NEXT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841248"/>
            <a:ext cx="10637215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181E2D"/>
                </a:solidFill>
                <a:latin typeface="Georgia"/>
              </a:rPr>
              <a:t>Prioritised, With Estimates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627632"/>
            <a:ext cx="1008857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1">
                <a:solidFill>
                  <a:srgbClr val="475569"/>
                </a:solidFill>
                <a:latin typeface="Georgia"/>
              </a:rPr>
              <a:t>Ordered by value against the brief.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996186"/>
            <a:ext cx="1371600" cy="32004"/>
          </a:xfrm>
          <a:prstGeom prst="rect">
            <a:avLst/>
          </a:prstGeom>
          <a:solidFill>
            <a:srgbClr val="BF94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297938"/>
            <a:ext cx="5486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BF9442"/>
                </a:solidFill>
                <a:latin typeface="Georgia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44168" y="2270506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81E2D"/>
                </a:solidFill>
                <a:latin typeface="Georgia"/>
              </a:rPr>
              <a:t>Deployment artifacts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26279" y="2252218"/>
            <a:ext cx="1005840" cy="274320"/>
          </a:xfrm>
          <a:prstGeom prst="roundRect">
            <a:avLst>
              <a:gd name="adj" fmla="val 35000"/>
            </a:avLst>
          </a:prstGeom>
          <a:solidFill>
            <a:srgbClr val="F0E9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26279" y="2302510"/>
            <a:ext cx="10058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 i="0">
                <a:solidFill>
                  <a:srgbClr val="7A5F28"/>
                </a:solidFill>
                <a:latin typeface="Verdana"/>
              </a:rPr>
              <a:t>~30 min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26279" y="2288794"/>
            <a:ext cx="6888175" cy="6217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475569"/>
                </a:solidFill>
                <a:latin typeface="Verdana"/>
              </a:rPr>
              <a:t>Dockerfile, Procfile, render.yaml. Unambiguous value against the brief. Pair with auth before any public deploy.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2910586"/>
            <a:ext cx="10637215" cy="7315"/>
          </a:xfrm>
          <a:prstGeom prst="rect">
            <a:avLst/>
          </a:prstGeom>
          <a:solidFill>
            <a:srgbClr val="DFDC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3092767"/>
            <a:ext cx="5486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BF9442"/>
                </a:solidFill>
                <a:latin typeface="Georgia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44168" y="3065335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81E2D"/>
                </a:solidFill>
                <a:latin typeface="Georgia"/>
              </a:rPr>
              <a:t>sanitize_text() at export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26279" y="3047047"/>
            <a:ext cx="1005840" cy="274320"/>
          </a:xfrm>
          <a:prstGeom prst="roundRect">
            <a:avLst>
              <a:gd name="adj" fmla="val 35000"/>
            </a:avLst>
          </a:prstGeom>
          <a:solidFill>
            <a:srgbClr val="F0E9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26279" y="3097339"/>
            <a:ext cx="10058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 i="0">
                <a:solidFill>
                  <a:srgbClr val="7A5F28"/>
                </a:solidFill>
                <a:latin typeface="Verdana"/>
              </a:rPr>
              <a:t>~20 min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26279" y="3083623"/>
            <a:ext cx="6888175" cy="6217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475569"/>
                </a:solidFill>
                <a:latin typeface="Verdana"/>
              </a:rPr>
              <a:t>Normalise typographic quotes and strip control characters before the exporters run.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77240" y="3705415"/>
            <a:ext cx="10637215" cy="7315"/>
          </a:xfrm>
          <a:prstGeom prst="rect">
            <a:avLst/>
          </a:prstGeom>
          <a:solidFill>
            <a:srgbClr val="DFDC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3887597"/>
            <a:ext cx="5486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BF9442"/>
                </a:solidFill>
                <a:latin typeface="Georgia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44168" y="3860165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81E2D"/>
                </a:solidFill>
                <a:latin typeface="Georgia"/>
              </a:rPr>
              <a:t>Author the remaining claims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26279" y="3841877"/>
            <a:ext cx="1005840" cy="274320"/>
          </a:xfrm>
          <a:prstGeom prst="roundRect">
            <a:avLst>
              <a:gd name="adj" fmla="val 35000"/>
            </a:avLst>
          </a:prstGeom>
          <a:solidFill>
            <a:srgbClr val="F0E9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26279" y="3892169"/>
            <a:ext cx="10058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 i="0">
                <a:solidFill>
                  <a:srgbClr val="7A5F28"/>
                </a:solidFill>
                <a:latin typeface="Verdana"/>
              </a:rPr>
              <a:t>scope first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26279" y="3878453"/>
            <a:ext cx="6888175" cy="6217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475569"/>
                </a:solidFill>
                <a:latin typeface="Verdana"/>
              </a:rPr>
              <a:t>Multilingual and summarisation roughly double scope. Worth building only if they are graded.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77240" y="4500245"/>
            <a:ext cx="10637215" cy="7315"/>
          </a:xfrm>
          <a:prstGeom prst="rect">
            <a:avLst/>
          </a:prstGeom>
          <a:solidFill>
            <a:srgbClr val="DFDC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7240" y="4682426"/>
            <a:ext cx="5486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BF9442"/>
                </a:solidFill>
                <a:latin typeface="Georgia"/>
              </a:rP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44168" y="4654994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81E2D"/>
                </a:solidFill>
                <a:latin typeface="Georgia"/>
              </a:rPr>
              <a:t>Better drafting model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26279" y="4636706"/>
            <a:ext cx="1005840" cy="274320"/>
          </a:xfrm>
          <a:prstGeom prst="roundRect">
            <a:avLst>
              <a:gd name="adj" fmla="val 35000"/>
            </a:avLst>
          </a:prstGeom>
          <a:solidFill>
            <a:srgbClr val="F0E9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26279" y="4686998"/>
            <a:ext cx="10058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 i="0">
                <a:solidFill>
                  <a:srgbClr val="7A5F28"/>
                </a:solidFill>
                <a:latin typeface="Verdana"/>
              </a:rPr>
              <a:t>config only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26279" y="4673282"/>
            <a:ext cx="6888175" cy="6217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475569"/>
                </a:solidFill>
                <a:latin typeface="Verdana"/>
              </a:rPr>
              <a:t>gpt-oss-120b is a general reasoning model, not tuned for legal. qwen/qwen3.8-27b is the other option on this key.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77240" y="5295074"/>
            <a:ext cx="10637215" cy="7315"/>
          </a:xfrm>
          <a:prstGeom prst="rect">
            <a:avLst/>
          </a:prstGeom>
          <a:solidFill>
            <a:srgbClr val="DFDC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77240" y="5477256"/>
            <a:ext cx="5486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BF9442"/>
                </a:solidFill>
                <a:latin typeface="Georgia"/>
              </a:rPr>
              <a:t>05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344168" y="5449824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81E2D"/>
                </a:solidFill>
                <a:latin typeface="Georgia"/>
              </a:rPr>
              <a:t>Add charset=utf-8 to JSON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526279" y="5431536"/>
            <a:ext cx="1005840" cy="274320"/>
          </a:xfrm>
          <a:prstGeom prst="roundRect">
            <a:avLst>
              <a:gd name="adj" fmla="val 35000"/>
            </a:avLst>
          </a:prstGeom>
          <a:solidFill>
            <a:srgbClr val="F0E9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526279" y="5481828"/>
            <a:ext cx="10058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 i="0">
                <a:solidFill>
                  <a:srgbClr val="7A5F28"/>
                </a:solidFill>
                <a:latin typeface="Verdana"/>
              </a:rPr>
              <a:t>trivial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26279" y="5468112"/>
            <a:ext cx="6888175" cy="6217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475569"/>
                </a:solidFill>
                <a:latin typeface="Verdana"/>
              </a:rPr>
              <a:t>Windows tools misread UTF-8 responses without it. Harmless and more correct.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77240" y="6089904"/>
            <a:ext cx="10637215" cy="7315"/>
          </a:xfrm>
          <a:prstGeom prst="rect">
            <a:avLst/>
          </a:prstGeom>
          <a:solidFill>
            <a:srgbClr val="DFDC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77240" y="6199632"/>
            <a:ext cx="10637215" cy="10972"/>
          </a:xfrm>
          <a:prstGeom prst="rect">
            <a:avLst/>
          </a:prstGeom>
          <a:solidFill>
            <a:srgbClr val="DFDC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77240" y="6327648"/>
            <a:ext cx="99514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 i="0">
                <a:solidFill>
                  <a:srgbClr val="828C9B"/>
                </a:solidFill>
                <a:latin typeface="Verdana"/>
              </a:rPr>
              <a:t>Not legal advice - generated documents require review by a qualified lawyer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865815" y="632764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828C9B"/>
                </a:solidFill>
                <a:latin typeface="Verdana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81E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BF94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51560" y="685800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BF9442"/>
                </a:solidFill>
                <a:latin typeface="Verdana"/>
              </a:rPr>
              <a:t>IN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1051560"/>
            <a:ext cx="106372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What Was Delivered</a:t>
            </a:r>
          </a:p>
        </p:txBody>
      </p:sp>
      <p:sp>
        <p:nvSpPr>
          <p:cNvPr id="6" name="Rectangle 5"/>
          <p:cNvSpPr/>
          <p:nvPr/>
        </p:nvSpPr>
        <p:spPr>
          <a:xfrm>
            <a:off x="1051560" y="1901952"/>
            <a:ext cx="1737360" cy="36576"/>
          </a:xfrm>
          <a:prstGeom prst="rect">
            <a:avLst/>
          </a:prstGeom>
          <a:solidFill>
            <a:srgbClr val="BF94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51560" y="2359152"/>
            <a:ext cx="82296" cy="82296"/>
          </a:xfrm>
          <a:prstGeom prst="ellipse">
            <a:avLst/>
          </a:prstGeom>
          <a:solidFill>
            <a:srgbClr val="BF94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25880" y="2286000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BF9442"/>
                </a:solidFill>
                <a:latin typeface="Georgia"/>
              </a:rPr>
              <a:t>A working product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2304288"/>
            <a:ext cx="652241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C6CDD8"/>
                </a:solidFill>
                <a:latin typeface="Georgia"/>
              </a:rPr>
              <a:t>All three scenarios in the brief run end to end against a live model.</a:t>
            </a:r>
          </a:p>
        </p:txBody>
      </p:sp>
      <p:sp>
        <p:nvSpPr>
          <p:cNvPr id="10" name="Oval 9"/>
          <p:cNvSpPr/>
          <p:nvPr/>
        </p:nvSpPr>
        <p:spPr>
          <a:xfrm>
            <a:off x="1051560" y="3072384"/>
            <a:ext cx="82296" cy="82296"/>
          </a:xfrm>
          <a:prstGeom prst="ellipse">
            <a:avLst/>
          </a:prstGeom>
          <a:solidFill>
            <a:srgbClr val="BF94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25880" y="2999232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BF9442"/>
                </a:solidFill>
                <a:latin typeface="Georgia"/>
              </a:rPr>
              <a:t>A real migration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3017520"/>
            <a:ext cx="652241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C6CDD8"/>
                </a:solidFill>
                <a:latin typeface="Georgia"/>
              </a:rPr>
              <a:t>Gemini to Groq, including the schema incompatibility that blocked it.</a:t>
            </a:r>
          </a:p>
        </p:txBody>
      </p:sp>
      <p:sp>
        <p:nvSpPr>
          <p:cNvPr id="13" name="Oval 12"/>
          <p:cNvSpPr/>
          <p:nvPr/>
        </p:nvSpPr>
        <p:spPr>
          <a:xfrm>
            <a:off x="1051560" y="3785616"/>
            <a:ext cx="82296" cy="82296"/>
          </a:xfrm>
          <a:prstGeom prst="ellipse">
            <a:avLst/>
          </a:prstGeom>
          <a:solidFill>
            <a:srgbClr val="BF94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25880" y="3712464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BF9442"/>
                </a:solidFill>
                <a:latin typeface="Georgia"/>
              </a:rPr>
              <a:t>Two bugs found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3730752"/>
            <a:ext cx="652241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C6CDD8"/>
                </a:solidFill>
                <a:latin typeface="Georgia"/>
              </a:rPr>
              <a:t>One pre-existing 500, one design flaw - both caught by testing, both fixed with regression tests.</a:t>
            </a:r>
          </a:p>
        </p:txBody>
      </p:sp>
      <p:sp>
        <p:nvSpPr>
          <p:cNvPr id="16" name="Oval 15"/>
          <p:cNvSpPr/>
          <p:nvPr/>
        </p:nvSpPr>
        <p:spPr>
          <a:xfrm>
            <a:off x="1051560" y="4498848"/>
            <a:ext cx="82296" cy="82296"/>
          </a:xfrm>
          <a:prstGeom prst="ellipse">
            <a:avLst/>
          </a:prstGeom>
          <a:solidFill>
            <a:srgbClr val="BF94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325880" y="4425696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BF9442"/>
                </a:solidFill>
                <a:latin typeface="Georgia"/>
              </a:rPr>
              <a:t>Honest accounting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0" y="4443984"/>
            <a:ext cx="652241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C6CDD8"/>
                </a:solidFill>
                <a:latin typeface="Georgia"/>
              </a:rPr>
              <a:t>131 passing tests, verified exports, and a clear list of what is missing.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51560" y="5303520"/>
            <a:ext cx="10362895" cy="749808"/>
          </a:xfrm>
          <a:prstGeom prst="roundRect">
            <a:avLst>
              <a:gd name="adj" fmla="val 4000"/>
            </a:avLst>
          </a:prstGeom>
          <a:solidFill>
            <a:srgbClr val="1E2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325880" y="5449824"/>
            <a:ext cx="9814255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250" b="0" i="1">
                <a:solidFill>
                  <a:srgbClr val="D6DBE4"/>
                </a:solidFill>
                <a:latin typeface="Georgia"/>
              </a:rPr>
              <a:t>The product meets or exceeds every functional requirement in the brief. The outstanding work is deployment packaging and two features the conclusion claims but nobody built.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1560" y="6199632"/>
            <a:ext cx="97228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 i="0">
                <a:solidFill>
                  <a:srgbClr val="687284"/>
                </a:solidFill>
                <a:latin typeface="Verdana"/>
              </a:rPr>
              <a:t>Not legal advice - generated documents require review by a qualified lawyer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865815" y="619963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88498"/>
                </a:solidFill>
                <a:latin typeface="Verdana"/>
              </a:rPr>
              <a:t>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LegalEase - AI-Assisted Legal Document Generation</dc:title>
  <dc:subject>How the project was built, end to end</dc:subject>
  <dc:creator/>
  <cp:keywords/>
  <dc:description>Generated from documents/content.py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